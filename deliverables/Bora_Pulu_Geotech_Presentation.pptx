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2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  <p:sldMasterId id="2147483677" r:id="rId3"/>
  </p:sldMasterIdLst>
  <p:notesMasterIdLst>
    <p:notesMasterId r:id="rId29"/>
  </p:notesMasterIdLst>
  <p:sldIdLst>
    <p:sldId id="1304" r:id="rId4"/>
    <p:sldId id="762" r:id="rId5"/>
    <p:sldId id="1285" r:id="rId6"/>
    <p:sldId id="1410" r:id="rId7"/>
    <p:sldId id="1418" r:id="rId34"/>
    <p:sldId id="1419" r:id="rId35"/>
    <p:sldId id="1420" r:id="rId36"/>
    <p:sldId id="1421" r:id="rId37"/>
    <p:sldId id="1422" r:id="rId38"/>
    <p:sldId id="1430" r:id="rId22"/>
    <p:sldId id="1431" r:id="rId21"/>
    <p:sldId id="1432" r:id="rId20"/>
    <p:sldId id="1433" r:id="rId19"/>
    <p:sldId id="1416" r:id="rId9"/>
    <p:sldId id="1403" r:id="rId10"/>
    <p:sldId id="1395" r:id="rId11"/>
    <p:sldId id="1396" r:id="rId12"/>
    <p:sldId id="1398" r:id="rId13"/>
    <p:sldId id="1397" r:id="rId14"/>
    <p:sldId id="1412" r:id="rId15"/>
    <p:sldId id="1405" r:id="rId16"/>
    <p:sldId id="1360" r:id="rId17"/>
    <p:sldId id="1302" r:id="rId18"/>
    <p:sldId id="1423" r:id="rId39"/>
    <p:sldId id="1424" r:id="rId40"/>
    <p:sldId id="1425" r:id="rId41"/>
    <p:sldId id="1426" r:id="rId42"/>
    <p:sldId id="1427" r:id="rId43"/>
    <p:sldId id="1428" r:id="rId44"/>
    <p:sldId id="1429" r:id="rId45"/>
    <p:sldId id="1404" r:id="rId23"/>
    <p:sldId id="1361" r:id="rId24"/>
    <p:sldId id="1393" r:id="rId25"/>
    <p:sldId id="1394" r:id="rId26"/>
    <p:sldId id="1363" r:id="rId27"/>
    <p:sldId id="660" r:id="rId28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. EXISTING CONDITION" id="{1D96FC98-9CDF-4E51-829F-5B1D498BF50A}">
          <p14:sldIdLst>
            <p14:sldId id="1304"/>
            <p14:sldId id="762"/>
            <p14:sldId id="1285"/>
          </p14:sldIdLst>
        </p14:section>
        <p14:section name="Rig Foundation" id="{A5306883-507E-473E-85E6-C7191E4BE29C}">
          <p14:sldIdLst>
            <p14:sldId id="1410"/>
            <p14:sldId id="1417"/>
            <p14:sldId id="1416"/>
            <p14:sldId id="1403"/>
            <p14:sldId id="1395"/>
            <p14:sldId id="1396"/>
            <p14:sldId id="1398"/>
            <p14:sldId id="1397"/>
            <p14:sldId id="1412"/>
            <p14:sldId id="1405"/>
            <p14:sldId id="1360"/>
            <p14:sldId id="1302"/>
            <p14:sldId id="1292"/>
            <p14:sldId id="1303"/>
            <p14:sldId id="257"/>
            <p14:sldId id="258"/>
            <p14:sldId id="1404"/>
            <p14:sldId id="1361"/>
            <p14:sldId id="1393"/>
            <p14:sldId id="1394"/>
            <p14:sldId id="1363"/>
            <p14:sldId id="6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AAFC1"/>
    <a:srgbClr val="FF0000"/>
    <a:srgbClr val="FFC000"/>
    <a:srgbClr val="FFFF00"/>
    <a:srgbClr val="5B9BD5"/>
    <a:srgbClr val="15E70E"/>
    <a:srgbClr val="53FF57"/>
    <a:srgbClr val="31192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029" autoAdjust="0"/>
  </p:normalViewPr>
  <p:slideViewPr>
    <p:cSldViewPr snapToGrid="0">
      <p:cViewPr varScale="1">
        <p:scale>
          <a:sx n="50" d="100"/>
          <a:sy n="50" d="100"/>
        </p:scale>
        <p:origin x="1474" y="3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31.xml"/><Relationship Id="rId24" Type="http://schemas.openxmlformats.org/officeDocument/2006/relationships/slide" Target="slides/slide32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5.xml"/><Relationship Id="rId28" Type="http://schemas.openxmlformats.org/officeDocument/2006/relationships/slide" Target="slides/slide36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311927"/>
                </a:solidFill>
                <a:latin typeface="Calibri"/>
              </a:rPr>
              <a:t>Long-term settlement per borehole (mm)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Immediate Si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BH-01
Wellpad D</c:v>
                </c:pt>
                <c:pt idx="1">
                  <c:v>BH-02
Wellpad A</c:v>
                </c:pt>
                <c:pt idx="2">
                  <c:v>BH-03
Log Yard</c:v>
                </c:pt>
                <c:pt idx="3">
                  <c:v>BH-04
Wellpad D</c:v>
                </c:pt>
                <c:pt idx="4">
                  <c:v>BH-05
Wellpad 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93.3</c:v>
                </c:pt>
                <c:pt idx="1">
                  <c:v>131.0</c:v>
                </c:pt>
                <c:pt idx="2">
                  <c:v>138.7</c:v>
                </c:pt>
                <c:pt idx="3">
                  <c:v>61.3</c:v>
                </c:pt>
                <c:pt idx="4">
                  <c:v>104.6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Consolidation Sc</c:v>
                </c:pt>
              </c:strCache>
            </c:strRef>
          </c:tx>
          <c:spPr>
            <a:solidFill>
              <a:srgbClr val="E69F00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BH-01
Wellpad D</c:v>
                </c:pt>
                <c:pt idx="1">
                  <c:v>BH-02
Wellpad A</c:v>
                </c:pt>
                <c:pt idx="2">
                  <c:v>BH-03
Log Yard</c:v>
                </c:pt>
                <c:pt idx="3">
                  <c:v>BH-04
Wellpad D</c:v>
                </c:pt>
                <c:pt idx="4">
                  <c:v>BH-05
Wellpad 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107.1</c:v>
                </c:pt>
                <c:pt idx="1">
                  <c:v>0.0</c:v>
                </c:pt>
                <c:pt idx="2">
                  <c:v>67.1</c:v>
                </c:pt>
                <c:pt idx="3">
                  <c:v>147.7</c:v>
                </c:pt>
                <c:pt idx="4">
                  <c:v>6.7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  <c:majorUnit val="50.0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34587-0ED8-460C-AB7D-830BF305E5DB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1D663-F5D7-4BBE-804B-2F3339717BFE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1pPr>
    <a:lvl2pPr marL="737235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2pPr>
    <a:lvl3pPr marL="1475105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3pPr>
    <a:lvl4pPr marL="2212340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4pPr>
    <a:lvl5pPr marL="2949575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5pPr>
    <a:lvl6pPr marL="3686810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6pPr>
    <a:lvl7pPr marL="4424680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7pPr>
    <a:lvl8pPr marL="5161915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8pPr>
    <a:lvl9pPr marL="5899150" algn="l" defTabSz="1475105" rtl="0" eaLnBrk="1" latinLnBrk="0" hangingPunct="1">
      <a:defRPr sz="19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0"/>
            </a:lvl1pPr>
            <a:lvl2pPr marL="712470" indent="0" algn="ctr">
              <a:buNone/>
              <a:defRPr sz="3120"/>
            </a:lvl2pPr>
            <a:lvl3pPr marL="1425575" indent="0" algn="ctr">
              <a:buNone/>
              <a:defRPr sz="2805"/>
            </a:lvl3pPr>
            <a:lvl4pPr marL="2138045" indent="0" algn="ctr">
              <a:buNone/>
              <a:defRPr sz="2495"/>
            </a:lvl4pPr>
            <a:lvl5pPr marL="2851150" indent="0" algn="ctr">
              <a:buNone/>
              <a:defRPr sz="2495"/>
            </a:lvl5pPr>
            <a:lvl6pPr marL="3563620" indent="0" algn="ctr">
              <a:buNone/>
              <a:defRPr sz="2495"/>
            </a:lvl6pPr>
            <a:lvl7pPr marL="4276725" indent="0" algn="ctr">
              <a:buNone/>
              <a:defRPr sz="2495"/>
            </a:lvl7pPr>
            <a:lvl8pPr marL="4989195" indent="0" algn="ctr">
              <a:buNone/>
              <a:defRPr sz="2495"/>
            </a:lvl8pPr>
            <a:lvl9pPr marL="570230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0">
                <a:solidFill>
                  <a:schemeClr val="tx1"/>
                </a:solidFill>
              </a:defRPr>
            </a:lvl1pPr>
            <a:lvl2pPr marL="712470" indent="0">
              <a:buNone/>
              <a:defRPr sz="3120">
                <a:solidFill>
                  <a:schemeClr val="tx1">
                    <a:tint val="75000"/>
                  </a:schemeClr>
                </a:solidFill>
              </a:defRPr>
            </a:lvl2pPr>
            <a:lvl3pPr marL="1425575" indent="0">
              <a:buNone/>
              <a:defRPr sz="2805">
                <a:solidFill>
                  <a:schemeClr val="tx1">
                    <a:tint val="75000"/>
                  </a:schemeClr>
                </a:solidFill>
              </a:defRPr>
            </a:lvl3pPr>
            <a:lvl4pPr marL="213804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15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362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672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8919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30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0" b="1"/>
            </a:lvl1pPr>
            <a:lvl2pPr marL="712470" indent="0">
              <a:buNone/>
              <a:defRPr sz="3120" b="1"/>
            </a:lvl2pPr>
            <a:lvl3pPr marL="1425575" indent="0">
              <a:buNone/>
              <a:defRPr sz="2805" b="1"/>
            </a:lvl3pPr>
            <a:lvl4pPr marL="2138045" indent="0">
              <a:buNone/>
              <a:defRPr sz="2495" b="1"/>
            </a:lvl4pPr>
            <a:lvl5pPr marL="2851150" indent="0">
              <a:buNone/>
              <a:defRPr sz="2495" b="1"/>
            </a:lvl5pPr>
            <a:lvl6pPr marL="3563620" indent="0">
              <a:buNone/>
              <a:defRPr sz="2495" b="1"/>
            </a:lvl6pPr>
            <a:lvl7pPr marL="4276725" indent="0">
              <a:buNone/>
              <a:defRPr sz="2495" b="1"/>
            </a:lvl7pPr>
            <a:lvl8pPr marL="4989195" indent="0">
              <a:buNone/>
              <a:defRPr sz="2495" b="1"/>
            </a:lvl8pPr>
            <a:lvl9pPr marL="570230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0" b="1"/>
            </a:lvl1pPr>
            <a:lvl2pPr marL="712470" indent="0">
              <a:buNone/>
              <a:defRPr sz="3120" b="1"/>
            </a:lvl2pPr>
            <a:lvl3pPr marL="1425575" indent="0">
              <a:buNone/>
              <a:defRPr sz="2805" b="1"/>
            </a:lvl3pPr>
            <a:lvl4pPr marL="2138045" indent="0">
              <a:buNone/>
              <a:defRPr sz="2495" b="1"/>
            </a:lvl4pPr>
            <a:lvl5pPr marL="2851150" indent="0">
              <a:buNone/>
              <a:defRPr sz="2495" b="1"/>
            </a:lvl5pPr>
            <a:lvl6pPr marL="3563620" indent="0">
              <a:buNone/>
              <a:defRPr sz="2495" b="1"/>
            </a:lvl6pPr>
            <a:lvl7pPr marL="4276725" indent="0">
              <a:buNone/>
              <a:defRPr sz="2495" b="1"/>
            </a:lvl7pPr>
            <a:lvl8pPr marL="4989195" indent="0">
              <a:buNone/>
              <a:defRPr sz="2495" b="1"/>
            </a:lvl8pPr>
            <a:lvl9pPr marL="570230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90"/>
            </a:lvl1pPr>
            <a:lvl2pPr>
              <a:defRPr sz="4365"/>
            </a:lvl2pPr>
            <a:lvl3pPr>
              <a:defRPr sz="3740"/>
            </a:lvl3pPr>
            <a:lvl4pPr>
              <a:defRPr sz="3120"/>
            </a:lvl4pPr>
            <a:lvl5pPr>
              <a:defRPr sz="3120"/>
            </a:lvl5pPr>
            <a:lvl6pPr>
              <a:defRPr sz="3120"/>
            </a:lvl6pPr>
            <a:lvl7pPr>
              <a:defRPr sz="3120"/>
            </a:lvl7pPr>
            <a:lvl8pPr>
              <a:defRPr sz="3120"/>
            </a:lvl8pPr>
            <a:lvl9pPr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5"/>
            </a:lvl1pPr>
            <a:lvl2pPr marL="712470" indent="0">
              <a:buNone/>
              <a:defRPr sz="2185"/>
            </a:lvl2pPr>
            <a:lvl3pPr marL="1425575" indent="0">
              <a:buNone/>
              <a:defRPr sz="1870"/>
            </a:lvl3pPr>
            <a:lvl4pPr marL="2138045" indent="0">
              <a:buNone/>
              <a:defRPr sz="1560"/>
            </a:lvl4pPr>
            <a:lvl5pPr marL="2851150" indent="0">
              <a:buNone/>
              <a:defRPr sz="1560"/>
            </a:lvl5pPr>
            <a:lvl6pPr marL="3563620" indent="0">
              <a:buNone/>
              <a:defRPr sz="1560"/>
            </a:lvl6pPr>
            <a:lvl7pPr marL="4276725" indent="0">
              <a:buNone/>
              <a:defRPr sz="1560"/>
            </a:lvl7pPr>
            <a:lvl8pPr marL="4989195" indent="0">
              <a:buNone/>
              <a:defRPr sz="1560"/>
            </a:lvl8pPr>
            <a:lvl9pPr marL="5702300" indent="0">
              <a:buNone/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90"/>
            </a:lvl1pPr>
            <a:lvl2pPr marL="712470" indent="0">
              <a:buNone/>
              <a:defRPr sz="4365"/>
            </a:lvl2pPr>
            <a:lvl3pPr marL="1425575" indent="0">
              <a:buNone/>
              <a:defRPr sz="3740"/>
            </a:lvl3pPr>
            <a:lvl4pPr marL="2138045" indent="0">
              <a:buNone/>
              <a:defRPr sz="3120"/>
            </a:lvl4pPr>
            <a:lvl5pPr marL="2851150" indent="0">
              <a:buNone/>
              <a:defRPr sz="3120"/>
            </a:lvl5pPr>
            <a:lvl6pPr marL="3563620" indent="0">
              <a:buNone/>
              <a:defRPr sz="3120"/>
            </a:lvl6pPr>
            <a:lvl7pPr marL="4276725" indent="0">
              <a:buNone/>
              <a:defRPr sz="3120"/>
            </a:lvl7pPr>
            <a:lvl8pPr marL="4989195" indent="0">
              <a:buNone/>
              <a:defRPr sz="3120"/>
            </a:lvl8pPr>
            <a:lvl9pPr marL="5702300" indent="0">
              <a:buNone/>
              <a:defRPr sz="31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5"/>
            </a:lvl1pPr>
            <a:lvl2pPr marL="712470" indent="0">
              <a:buNone/>
              <a:defRPr sz="2185"/>
            </a:lvl2pPr>
            <a:lvl3pPr marL="1425575" indent="0">
              <a:buNone/>
              <a:defRPr sz="1870"/>
            </a:lvl3pPr>
            <a:lvl4pPr marL="2138045" indent="0">
              <a:buNone/>
              <a:defRPr sz="1560"/>
            </a:lvl4pPr>
            <a:lvl5pPr marL="2851150" indent="0">
              <a:buNone/>
              <a:defRPr sz="1560"/>
            </a:lvl5pPr>
            <a:lvl6pPr marL="3563620" indent="0">
              <a:buNone/>
              <a:defRPr sz="1560"/>
            </a:lvl6pPr>
            <a:lvl7pPr marL="4276725" indent="0">
              <a:buNone/>
              <a:defRPr sz="1560"/>
            </a:lvl7pPr>
            <a:lvl8pPr marL="4989195" indent="0">
              <a:buNone/>
              <a:defRPr sz="1560"/>
            </a:lvl8pPr>
            <a:lvl9pPr marL="5702300" indent="0">
              <a:buNone/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789422"/>
            <a:ext cx="15119350" cy="8227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704" y="1187982"/>
            <a:ext cx="14498073" cy="2840684"/>
          </a:xfrm>
        </p:spPr>
        <p:txBody>
          <a:bodyPr anchor="b">
            <a:noAutofit/>
          </a:bodyPr>
          <a:lstStyle>
            <a:lvl1pPr>
              <a:defRPr sz="6697">
                <a:solidFill>
                  <a:schemeClr val="tx1"/>
                </a:solidFill>
                <a:latin typeface="Dutch801 XBd BT" pitchFamily="18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989" y="3836474"/>
            <a:ext cx="14489377" cy="7127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  <a:lvl2pPr marL="566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3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00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67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34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01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68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35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251989" y="9860230"/>
            <a:ext cx="3527848" cy="569240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oxima Nova Lt" pitchFamily="50" charset="0"/>
                <a:ea typeface="DejaVu Sans Mono" pitchFamily="49" charset="0"/>
                <a:cs typeface="DejaVu Sans Mono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393897" y="4528298"/>
            <a:ext cx="10331556" cy="1593872"/>
          </a:xfrm>
        </p:spPr>
        <p:txBody>
          <a:bodyPr anchor="t"/>
          <a:lstStyle>
            <a:lvl1pPr marL="0" indent="0" algn="ctr">
              <a:buNone/>
              <a:defRPr b="0">
                <a:latin typeface="Dutch801 XBd BT" pitchFamily="18" charset="0"/>
                <a:ea typeface="DejaVu Sans Mono" pitchFamily="49" charset="0"/>
                <a:cs typeface="DejaVu Sans Mono" pitchFamily="49" charset="0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0F8CBA-6544-0AC2-01FF-24BE22B85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64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68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4" name="Rectangle 3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7" name="Rectangle 6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976"/>
            </a:lvl1pPr>
            <a:lvl2pPr marL="716592" indent="-433105">
              <a:buFont typeface="Arial" pitchFamily="34" charset="0"/>
              <a:buChar char="•"/>
              <a:defRPr sz="2480"/>
            </a:lvl2pPr>
            <a:lvl3pPr marL="1000079" indent="-433105">
              <a:defRPr sz="2480"/>
            </a:lvl3pPr>
            <a:lvl4pPr marL="1283566" indent="-433105">
              <a:buFont typeface="Arial" pitchFamily="34" charset="0"/>
              <a:buChar char="•"/>
              <a:defRPr sz="2232"/>
            </a:lvl4pPr>
            <a:lvl5pPr marL="1567052" indent="-433105">
              <a:buFont typeface="Arial" pitchFamily="34" charset="0"/>
              <a:buChar char="•"/>
              <a:defRPr sz="223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19D82-4A3B-4615-8845-F5B08BE07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6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3" name="Rectangle 12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1" name="Rectangle 10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976">
                <a:solidFill>
                  <a:srgbClr val="2E2827"/>
                </a:solidFill>
              </a:defRPr>
            </a:lvl1pPr>
            <a:lvl2pPr marL="716592" indent="-433105">
              <a:buFont typeface="Arial" pitchFamily="34" charset="0"/>
              <a:buChar char="•"/>
              <a:defRPr sz="2480">
                <a:solidFill>
                  <a:srgbClr val="2E2827"/>
                </a:solidFill>
              </a:defRPr>
            </a:lvl2pPr>
            <a:lvl3pPr marL="1000079" indent="-433105">
              <a:defRPr sz="2480">
                <a:solidFill>
                  <a:srgbClr val="2E2827"/>
                </a:solidFill>
              </a:defRPr>
            </a:lvl3pPr>
            <a:lvl4pPr marL="1283566" indent="-433105">
              <a:buFont typeface="Arial" pitchFamily="34" charset="0"/>
              <a:buChar char="•"/>
              <a:defRPr sz="2232">
                <a:solidFill>
                  <a:srgbClr val="2E2827"/>
                </a:solidFill>
              </a:defRPr>
            </a:lvl4pPr>
            <a:lvl5pPr marL="1567052" indent="-433105">
              <a:buFont typeface="Arial" pitchFamily="34" charset="0"/>
              <a:buChar char="•"/>
              <a:defRPr sz="2232">
                <a:solidFill>
                  <a:srgbClr val="2E282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3D8AA-9165-AEC8-8A47-6D92698303AE}"/>
              </a:ext>
            </a:extLst>
          </p:cNvPr>
          <p:cNvSpPr txBox="1"/>
          <p:nvPr userDrawn="1"/>
        </p:nvSpPr>
        <p:spPr>
          <a:xfrm>
            <a:off x="9134607" y="10057024"/>
            <a:ext cx="7584874" cy="321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88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#Wiratman50 #50YearsAndBeyond #LegacyInMotion</a:t>
            </a:r>
            <a:endParaRPr lang="en-US" sz="1488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36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0" name="Rectangle 9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3789422"/>
            <a:ext cx="15119350" cy="822735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251704" y="1187982"/>
            <a:ext cx="14498073" cy="2840684"/>
          </a:xfrm>
        </p:spPr>
        <p:txBody>
          <a:bodyPr anchor="b">
            <a:noAutofit/>
          </a:bodyPr>
          <a:lstStyle>
            <a:lvl1pPr>
              <a:defRPr sz="6697">
                <a:solidFill>
                  <a:srgbClr val="2E2827"/>
                </a:solidFill>
                <a:latin typeface="Dutch801 XBd BT" pitchFamily="18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989" y="3836474"/>
            <a:ext cx="14489377" cy="71278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  <a:lvl2pPr marL="566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3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00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67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34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01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68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35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8CA6C-88A4-8088-0AD7-A031B93E34C5}"/>
              </a:ext>
            </a:extLst>
          </p:cNvPr>
          <p:cNvSpPr txBox="1"/>
          <p:nvPr userDrawn="1"/>
        </p:nvSpPr>
        <p:spPr>
          <a:xfrm>
            <a:off x="9134607" y="10057024"/>
            <a:ext cx="7584874" cy="321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88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#Wiratman50 #50YearsAndBeyond #LegacyInMotion</a:t>
            </a:r>
            <a:endParaRPr lang="en-US" sz="1488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35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0" name="Rectangle 9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3789422"/>
            <a:ext cx="15119350" cy="8227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251704" y="1187982"/>
            <a:ext cx="14498073" cy="2840684"/>
          </a:xfrm>
        </p:spPr>
        <p:txBody>
          <a:bodyPr anchor="b">
            <a:noAutofit/>
          </a:bodyPr>
          <a:lstStyle>
            <a:lvl1pPr>
              <a:defRPr sz="6697">
                <a:solidFill>
                  <a:schemeClr val="tx1"/>
                </a:solidFill>
                <a:latin typeface="Dutch801 XBd BT" pitchFamily="18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989" y="3836474"/>
            <a:ext cx="14489377" cy="7127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  <a:lvl2pPr marL="566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3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00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67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34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01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68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35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5A3406-8CF2-8ACB-1348-5FD5325F33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215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3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sosceles Triangle 12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4" name="Rectangle 13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1" name="Rectangle 10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69" y="2494759"/>
            <a:ext cx="6677713" cy="7056102"/>
          </a:xfrm>
        </p:spPr>
        <p:txBody>
          <a:bodyPr/>
          <a:lstStyle>
            <a:lvl1pPr>
              <a:defRPr lang="en-US" sz="2976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1pPr>
            <a:lvl2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5pPr>
            <a:lvl6pPr>
              <a:defRPr sz="2232"/>
            </a:lvl6pPr>
            <a:lvl7pPr>
              <a:defRPr sz="2232"/>
            </a:lvl7pPr>
            <a:lvl8pPr>
              <a:defRPr sz="2232"/>
            </a:lvl8pPr>
            <a:lvl9pPr>
              <a:defRPr sz="22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5670" y="2494759"/>
            <a:ext cx="6677713" cy="7056102"/>
          </a:xfrm>
        </p:spPr>
        <p:txBody>
          <a:bodyPr/>
          <a:lstStyle>
            <a:lvl1pPr marL="425230" indent="-425230">
              <a:defRPr lang="en-US" sz="2976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1pPr>
            <a:lvl2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5pPr>
            <a:lvl6pPr>
              <a:defRPr sz="2232"/>
            </a:lvl6pPr>
            <a:lvl7pPr>
              <a:defRPr sz="2232"/>
            </a:lvl7pPr>
            <a:lvl8pPr>
              <a:defRPr sz="2232"/>
            </a:lvl8pPr>
            <a:lvl9pPr>
              <a:defRPr sz="2232"/>
            </a:lvl9pPr>
          </a:lstStyle>
          <a:p>
            <a:pPr marL="425230" lvl="0" indent="-425230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19D82-4A3B-4615-8845-F5B08BE0749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1199A0-9BD2-6ADB-0467-A537DCEDD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64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9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sosceles Triangle 12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4" name="Rectangle 13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1" name="Rectangle 10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69" y="2494759"/>
            <a:ext cx="6677713" cy="7056102"/>
          </a:xfrm>
        </p:spPr>
        <p:txBody>
          <a:bodyPr/>
          <a:lstStyle>
            <a:lvl1pPr>
              <a:defRPr lang="en-US" sz="2976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1pPr>
            <a:lvl2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5pPr>
            <a:lvl6pPr>
              <a:defRPr sz="2232"/>
            </a:lvl6pPr>
            <a:lvl7pPr>
              <a:defRPr sz="2232"/>
            </a:lvl7pPr>
            <a:lvl8pPr>
              <a:defRPr sz="2232"/>
            </a:lvl8pPr>
            <a:lvl9pPr>
              <a:defRPr sz="22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5670" y="2494759"/>
            <a:ext cx="6677713" cy="7056102"/>
          </a:xfrm>
        </p:spPr>
        <p:txBody>
          <a:bodyPr/>
          <a:lstStyle>
            <a:lvl1pPr marL="425230" indent="-425230">
              <a:defRPr lang="en-US" sz="2976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1pPr>
            <a:lvl2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5pPr>
            <a:lvl6pPr>
              <a:defRPr sz="2232"/>
            </a:lvl6pPr>
            <a:lvl7pPr>
              <a:defRPr sz="2232"/>
            </a:lvl7pPr>
            <a:lvl8pPr>
              <a:defRPr sz="2232"/>
            </a:lvl8pPr>
            <a:lvl9pPr>
              <a:defRPr sz="2232"/>
            </a:lvl9pPr>
          </a:lstStyle>
          <a:p>
            <a:pPr marL="425230" lvl="0" indent="-425230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2162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0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2" name="Rectangle 11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0" name="Rectangle 9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19D82-4A3B-4615-8845-F5B08BE074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943E6-354C-C76F-DCF3-F5AD19248C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64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0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2" name="Rectangle 11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1" name="Rectangle 10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4444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9" name="Rectangle 8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19D82-4A3B-4615-8845-F5B08BE0749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DBE71B-0DB1-127A-010B-9A2214BE85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64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9" name="Rectangle 8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B22FA-C2EA-2B33-EEF1-EA2DB990CD56}"/>
              </a:ext>
            </a:extLst>
          </p:cNvPr>
          <p:cNvSpPr txBox="1"/>
          <p:nvPr userDrawn="1"/>
        </p:nvSpPr>
        <p:spPr>
          <a:xfrm>
            <a:off x="9134607" y="10057024"/>
            <a:ext cx="7584874" cy="321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88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#Wiratman50 #50YearsAndBeyond #LegacyInMotion</a:t>
            </a:r>
            <a:endParaRPr lang="en-US" sz="1488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967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sosceles Triangle 9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3" name="Rectangle 12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2" name="Rectangle 11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2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19D82-4A3B-4615-8845-F5B08BE074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73E5ED-C139-644B-0BE0-04FF0B46F3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64" y="7959461"/>
            <a:ext cx="4970486" cy="3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4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3" name="Rectangle 12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2" name="Rectangle 11"/>
          <p:cNvSpPr/>
          <p:nvPr userDrawn="1"/>
        </p:nvSpPr>
        <p:spPr>
          <a:xfrm>
            <a:off x="0" y="440251"/>
            <a:ext cx="15119350" cy="1781969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2E2827"/>
                </a:solidFill>
              </a:defRPr>
            </a:lvl1pPr>
            <a:lvl2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0" y="428168"/>
            <a:ext cx="15119350" cy="1781969"/>
          </a:xfrm>
        </p:spPr>
        <p:txBody>
          <a:bodyPr>
            <a:normAutofit/>
          </a:bodyPr>
          <a:lstStyle>
            <a:lvl1pPr>
              <a:defRPr sz="3968"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7688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0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2" name="Rectangle 11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8" name="Rectangle 7"/>
          <p:cNvSpPr/>
          <p:nvPr userDrawn="1"/>
        </p:nvSpPr>
        <p:spPr>
          <a:xfrm>
            <a:off x="10983764" y="0"/>
            <a:ext cx="3401855" cy="106918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961529" y="3"/>
            <a:ext cx="3401854" cy="10691811"/>
          </a:xfrm>
        </p:spPr>
        <p:txBody>
          <a:bodyPr vert="eaVert">
            <a:normAutofit/>
          </a:bodyPr>
          <a:lstStyle>
            <a:lvl1pPr algn="l">
              <a:defRPr sz="3968">
                <a:solidFill>
                  <a:srgbClr val="2E2827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969" y="428172"/>
            <a:ext cx="9953572" cy="9122690"/>
          </a:xfrm>
        </p:spPr>
        <p:txBody>
          <a:bodyPr vert="eaVert"/>
          <a:lstStyle>
            <a:lvl2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chemeClr val="tx1"/>
                </a:solidFill>
                <a:latin typeface="Proxima Nova Lt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rgbClr val="2E2827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</p:spTree>
    <p:extLst>
      <p:ext uri="{BB962C8B-B14F-4D97-AF65-F5344CB8AC3E}">
        <p14:creationId xmlns:p14="http://schemas.microsoft.com/office/powerpoint/2010/main" val="429095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 userDrawn="1"/>
        </p:nvSpPr>
        <p:spPr>
          <a:xfrm flipV="1">
            <a:off x="8819621" y="9899827"/>
            <a:ext cx="629973" cy="593990"/>
          </a:xfrm>
          <a:prstGeom prst="triangle">
            <a:avLst>
              <a:gd name="adj" fmla="val 0"/>
            </a:avLst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3" name="Rectangle 12"/>
          <p:cNvSpPr/>
          <p:nvPr userDrawn="1"/>
        </p:nvSpPr>
        <p:spPr>
          <a:xfrm>
            <a:off x="0" y="9899827"/>
            <a:ext cx="8819621" cy="593990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10" name="Rectangle 9"/>
          <p:cNvSpPr/>
          <p:nvPr userDrawn="1"/>
        </p:nvSpPr>
        <p:spPr>
          <a:xfrm>
            <a:off x="10983764" y="0"/>
            <a:ext cx="3401855" cy="10691813"/>
          </a:xfrm>
          <a:prstGeom prst="rect">
            <a:avLst/>
          </a:prstGeom>
          <a:solidFill>
            <a:srgbClr val="2E28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969" y="428172"/>
            <a:ext cx="9953572" cy="9122690"/>
          </a:xfrm>
        </p:spPr>
        <p:txBody>
          <a:bodyPr vert="eaVert"/>
          <a:lstStyle>
            <a:lvl1pPr>
              <a:defRPr>
                <a:solidFill>
                  <a:srgbClr val="2E2827"/>
                </a:solidFill>
              </a:defRPr>
            </a:lvl1pPr>
            <a:lvl2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2pPr>
            <a:lvl3pPr>
              <a:defRPr lang="en-US" sz="2480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3pPr>
            <a:lvl4pPr>
              <a:defRPr lang="en-US" sz="2232" kern="1200" dirty="0" smtClean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4pPr>
            <a:lvl5pPr>
              <a:defRPr lang="en-US" sz="2232" kern="1200" dirty="0">
                <a:solidFill>
                  <a:srgbClr val="2E2827"/>
                </a:solidFill>
                <a:latin typeface="Proxima Nova Lt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755968" y="9909731"/>
            <a:ext cx="9953572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1" dirty="0"/>
              <a:t>WIRATMAN</a:t>
            </a:r>
            <a:r>
              <a:rPr lang="en-US" dirty="0"/>
              <a:t> STRUCTURE </a:t>
            </a:r>
            <a:r>
              <a:rPr lang="en-US" b="1" dirty="0"/>
              <a:t>|</a:t>
            </a:r>
            <a:r>
              <a:rPr lang="en-US" dirty="0"/>
              <a:t> GRAHA SIMATUPANG TOWER II BLOK A &amp; D</a:t>
            </a:r>
          </a:p>
        </p:txBody>
      </p:sp>
      <p:sp>
        <p:nvSpPr>
          <p:cNvPr id="9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961529" y="3"/>
            <a:ext cx="3401854" cy="10691811"/>
          </a:xfrm>
        </p:spPr>
        <p:txBody>
          <a:bodyPr vert="eaVert">
            <a:normAutofit/>
          </a:bodyPr>
          <a:lstStyle>
            <a:lvl1pPr algn="l">
              <a:defRPr sz="3968">
                <a:solidFill>
                  <a:schemeClr val="bg1"/>
                </a:solidFill>
                <a:latin typeface="DejaVu Sans Light" pitchFamily="34" charset="0"/>
                <a:ea typeface="DejaVu Sans Light" pitchFamily="34" charset="0"/>
                <a:cs typeface="DejaVu Sans Ligh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16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E8897-600F-8F45-A648-63562507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C38D2-80E6-4277-953D-BC012D65A193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4591B-1B4D-9296-B69A-79091800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AF99E-877B-FD8E-39C9-FEE02609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E70C7-2591-44C4-8428-23AD5190A9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390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28C52-8AD4-4664-A613-1E1FFEC90EA5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F506-3E97-4CD9-849B-81614FC9B9A8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25575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235" indent="-356235" algn="l" defTabSz="1425575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0" kern="1200">
          <a:solidFill>
            <a:schemeClr val="tx1"/>
          </a:solidFill>
          <a:latin typeface="+mn-lt"/>
          <a:ea typeface="+mn-ea"/>
          <a:cs typeface="+mn-cs"/>
        </a:defRPr>
      </a:lvl2pPr>
      <a:lvl3pPr marL="1781810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4915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4pPr>
      <a:lvl5pPr marL="3207385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5pPr>
      <a:lvl6pPr marL="3920490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6pPr>
      <a:lvl7pPr marL="4632960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7pPr>
      <a:lvl8pPr marL="5346065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8pPr>
      <a:lvl9pPr marL="6058535" indent="-356235" algn="l" defTabSz="1425575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1pPr>
      <a:lvl2pPr marL="712470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2pPr>
      <a:lvl3pPr marL="1425575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3pPr>
      <a:lvl4pPr marL="2138045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4pPr>
      <a:lvl5pPr marL="2851150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5pPr>
      <a:lvl6pPr marL="3563620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6pPr>
      <a:lvl7pPr marL="4276725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7pPr>
      <a:lvl8pPr marL="4989195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8pPr>
      <a:lvl9pPr marL="5702300" algn="l" defTabSz="1425575" rtl="0" eaLnBrk="1" latinLnBrk="0" hangingPunct="1">
        <a:defRPr sz="2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968" y="428168"/>
            <a:ext cx="13607415" cy="1781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968" y="2494759"/>
            <a:ext cx="13607415" cy="705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716592" lvl="1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1000079" lvl="2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283566" lvl="3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Fourth level</a:t>
            </a:r>
          </a:p>
          <a:p>
            <a:pPr marL="1567052" lvl="4" indent="-433105" algn="l" defTabSz="113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65779" y="9909731"/>
            <a:ext cx="478779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75000"/>
                  </a:schemeClr>
                </a:solidFill>
                <a:latin typeface="Proxima Nova Lt" pitchFamily="50" charset="0"/>
              </a:defRPr>
            </a:lvl1pPr>
          </a:lstStyle>
          <a:p>
            <a:r>
              <a:rPr lang="en-US" dirty="0"/>
              <a:t>WIRATMAN STRUCTURE | GRAHA SIMATUPANG TOWER II BLOK A &amp; 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5534" y="9909731"/>
            <a:ext cx="352784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</a:schemeClr>
                </a:solidFill>
                <a:latin typeface="Proxima Nova Lt" pitchFamily="50" charset="0"/>
              </a:defRPr>
            </a:lvl1pPr>
          </a:lstStyle>
          <a:p>
            <a:fld id="{FA219D82-4A3B-4615-8845-F5B08BE074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027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1133947" rtl="0" eaLnBrk="1" latinLnBrk="0" hangingPunct="1">
        <a:spcBef>
          <a:spcPct val="0"/>
        </a:spcBef>
        <a:buNone/>
        <a:defRPr sz="3968" kern="1200">
          <a:solidFill>
            <a:schemeClr val="tx1"/>
          </a:solidFill>
          <a:latin typeface="DejaVu Sans Light" pitchFamily="34" charset="0"/>
          <a:ea typeface="DejaVu Sans Light" pitchFamily="34" charset="0"/>
          <a:cs typeface="DejaVu Sans Light" pitchFamily="34" charset="0"/>
        </a:defRPr>
      </a:lvl1pPr>
    </p:titleStyle>
    <p:bodyStyle>
      <a:lvl1pPr marL="425230" indent="-425230" algn="l" defTabSz="1133947" rtl="0" eaLnBrk="1" latinLnBrk="0" hangingPunct="1">
        <a:spcBef>
          <a:spcPct val="20000"/>
        </a:spcBef>
        <a:buFont typeface="Arial" pitchFamily="34" charset="0"/>
        <a:buChar char="•"/>
        <a:defRPr lang="en-US" sz="2976" kern="1200" dirty="0" smtClean="0">
          <a:solidFill>
            <a:schemeClr val="tx1"/>
          </a:solidFill>
          <a:latin typeface="Proxima Nova Lt" pitchFamily="50" charset="0"/>
          <a:ea typeface="+mn-ea"/>
          <a:cs typeface="+mn-cs"/>
        </a:defRPr>
      </a:lvl1pPr>
      <a:lvl2pPr marL="921332" indent="-354359" algn="l" defTabSz="1133947" rtl="0" eaLnBrk="1" latinLnBrk="0" hangingPunct="1">
        <a:spcBef>
          <a:spcPct val="20000"/>
        </a:spcBef>
        <a:buFont typeface="Arial" pitchFamily="34" charset="0"/>
        <a:buChar char="–"/>
        <a:defRPr lang="en-US" sz="2480" kern="1200" dirty="0" smtClean="0">
          <a:solidFill>
            <a:schemeClr val="tx1"/>
          </a:solidFill>
          <a:latin typeface="Proxima Nova Lt" pitchFamily="50" charset="0"/>
          <a:ea typeface="+mn-ea"/>
          <a:cs typeface="+mn-cs"/>
        </a:defRPr>
      </a:lvl2pPr>
      <a:lvl3pPr marL="1417434" indent="-283487" algn="l" defTabSz="1133947" rtl="0" eaLnBrk="1" latinLnBrk="0" hangingPunct="1">
        <a:spcBef>
          <a:spcPct val="20000"/>
        </a:spcBef>
        <a:buFont typeface="Arial" pitchFamily="34" charset="0"/>
        <a:buChar char="•"/>
        <a:defRPr lang="en-US" sz="2480" kern="1200" dirty="0" smtClean="0">
          <a:solidFill>
            <a:schemeClr val="tx1"/>
          </a:solidFill>
          <a:latin typeface="Proxima Nova Lt" pitchFamily="50" charset="0"/>
          <a:ea typeface="+mn-ea"/>
          <a:cs typeface="+mn-cs"/>
        </a:defRPr>
      </a:lvl3pPr>
      <a:lvl4pPr marL="1984408" indent="-283487" algn="l" defTabSz="1133947" rtl="0" eaLnBrk="1" latinLnBrk="0" hangingPunct="1">
        <a:spcBef>
          <a:spcPct val="20000"/>
        </a:spcBef>
        <a:buFont typeface="Arial" pitchFamily="34" charset="0"/>
        <a:buChar char="–"/>
        <a:defRPr lang="en-US" sz="2232" kern="1200" dirty="0" smtClean="0">
          <a:solidFill>
            <a:schemeClr val="tx1"/>
          </a:solidFill>
          <a:latin typeface="Proxima Nova Lt" pitchFamily="50" charset="0"/>
          <a:ea typeface="+mn-ea"/>
          <a:cs typeface="+mn-cs"/>
        </a:defRPr>
      </a:lvl4pPr>
      <a:lvl5pPr marL="2551382" indent="-283487" algn="l" defTabSz="1133947" rtl="0" eaLnBrk="1" latinLnBrk="0" hangingPunct="1">
        <a:spcBef>
          <a:spcPct val="20000"/>
        </a:spcBef>
        <a:buFont typeface="Arial" pitchFamily="34" charset="0"/>
        <a:buChar char="»"/>
        <a:defRPr lang="en-US" sz="2232" kern="1200" dirty="0">
          <a:solidFill>
            <a:schemeClr val="tx1"/>
          </a:solidFill>
          <a:latin typeface="Proxima Nova Lt" pitchFamily="50" charset="0"/>
          <a:ea typeface="+mn-ea"/>
          <a:cs typeface="+mn-cs"/>
        </a:defRPr>
      </a:lvl5pPr>
      <a:lvl6pPr marL="3118355" indent="-283487" algn="l" defTabSz="1133947" rtl="0" eaLnBrk="1" latinLnBrk="0" hangingPunct="1">
        <a:spcBef>
          <a:spcPct val="20000"/>
        </a:spcBef>
        <a:buFont typeface="Arial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spcBef>
          <a:spcPct val="20000"/>
        </a:spcBef>
        <a:buFont typeface="Arial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spcBef>
          <a:spcPct val="20000"/>
        </a:spcBef>
        <a:buFont typeface="Arial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spcBef>
          <a:spcPct val="20000"/>
        </a:spcBef>
        <a:buFont typeface="Arial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4544E-7458-1D91-C1DF-2F0DAC01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569241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6642-9CF4-4F69-68B0-8C764798E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1F4DB-1B5A-14F1-9BC4-2345D5871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C38D2-80E6-4277-953D-BC012D65A193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24903-5B88-961E-4073-A1F388D4C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9909727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B4BAE-ED70-FF68-0C3A-397CA6407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E70C7-2591-44C4-8428-23AD5190A9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857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eg"/><Relationship Id="rId3" Type="http://schemas.openxmlformats.org/officeDocument/2006/relationships/image" Target="../media/image30.jpeg"/><Relationship Id="rId4" Type="http://schemas.openxmlformats.org/officeDocument/2006/relationships/image" Target="../media/image31.jpeg"/><Relationship Id="rId5" Type="http://schemas.openxmlformats.org/officeDocument/2006/relationships/image" Target="../media/image32.jpeg"/><Relationship Id="rId6" Type="http://schemas.openxmlformats.org/officeDocument/2006/relationships/image" Target="../media/image33.png"/><Relationship Id="rId7" Type="http://schemas.openxmlformats.org/officeDocument/2006/relationships/image" Target="../media/image34.emf"/><Relationship Id="rId8" Type="http://schemas.openxmlformats.org/officeDocument/2006/relationships/image" Target="../media/image35.png"/><Relationship Id="rId9" Type="http://schemas.openxmlformats.org/officeDocument/2006/relationships/image" Target="../media/image36.jpg"/><Relationship Id="rId10" Type="http://schemas.openxmlformats.org/officeDocument/2006/relationships/image" Target="../media/image37.jpg"/><Relationship Id="rId11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4575-BF37-E6ED-FA73-B5E86E0C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3CBE-5B06-E75F-8D30-0877263FF98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707894"/>
            <a:ext cx="15119350" cy="2260028"/>
          </a:xfrm>
        </p:spPr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</a:rPr>
              <a:t>A. EXISTING CONDITION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3BEBA9-1058-3FC7-96AF-BD94E0ABAE21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1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ABF7-775A-6AC7-C827-D56F2939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28DC19-37FC-981D-87D7-BBC8B6B76C8C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r>
              <a:rPr lang="en-US" altLang="en-GB" sz="2800" b="1" dirty="0">
                <a:solidFill>
                  <a:schemeClr val="bg1"/>
                </a:solidFill>
              </a:rPr>
              <a:t>SOIL INVESTIGATION LOCATION 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3E743A37-67A8-AFBE-DCD3-723335F07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79D6478-4619-E5B8-488E-4799B262A8FB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2E08CF-4F29-7D6B-E7C7-92324976642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>
                  <a:latin typeface="Proxima Nova Lt" panose="02000506030000020004" pitchFamily="50" charset="0"/>
                </a:rPr>
                <a:t>GEOTECHNICAL INVESTIGATION &amp; DETAILED ENGINEERING DESIGN</a:t>
              </a:r>
            </a:p>
            <a:p>
              <a:pPr algn="r"/>
              <a:r>
                <a:rPr lang="en-GB" b="1" dirty="0">
                  <a:latin typeface="Proxima Nova Lt" panose="02000506030000020004" pitchFamily="50" charset="0"/>
                </a:rPr>
                <a:t>BORA PULU GEOTHERMAL PSPE AREA</a:t>
              </a:r>
              <a:endParaRPr lang="en-US" b="1" dirty="0">
                <a:latin typeface="Proxima Nova Lt" panose="02000506030000020004" pitchFamily="50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156AF2-83A7-195F-7514-DD36E7FCDE5A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312E9C-63FB-6C43-0C94-31B540EDF43A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8974DBC-0152-09A5-1EB8-6C3A554D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fld id="{1E55F506-3E97-4CD9-849B-81614FC9B9A8}" type="slidenum">
              <a:rPr lang="en-ID" sz="4400" smtClean="0">
                <a:solidFill>
                  <a:schemeClr val="bg1"/>
                </a:solidFill>
              </a:rPr>
              <a:t>2</a:t>
            </a:fld>
            <a:endParaRPr lang="en-ID" sz="4400" dirty="0">
              <a:solidFill>
                <a:schemeClr val="bg1"/>
              </a:solidFill>
            </a:endParaRPr>
          </a:p>
        </p:txBody>
      </p:sp>
      <p:sp>
        <p:nvSpPr>
          <p:cNvPr id="7" name="Caption 105">
            <a:extLst>
              <a:ext uri="{FF2B5EF4-FFF2-40B4-BE49-F238E27FC236}">
                <a16:creationId xmlns:a16="http://schemas.microsoft.com/office/drawing/2014/main" id="{7FFAC1D1-3AE1-3A38-D887-F8FE97E0A4C0}"/>
              </a:ext>
            </a:extLst>
          </p:cNvPr>
          <p:cNvSpPr txBox="1"/>
          <p:nvPr/>
        </p:nvSpPr>
        <p:spPr>
          <a:xfrm>
            <a:off x="1022972" y="9228828"/>
            <a:ext cx="12838205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100" i="1" dirty="0">
                <a:solidFill>
                  <a:srgbClr val="595959"/>
                </a:solidFill>
                <a:latin typeface="Proxima Nova Lt" panose="02000506030000020004" pitchFamily="50" charset="0"/>
                <a:ea typeface="Calibri"/>
              </a:rPr>
              <a:t>Soil Investigation Location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537B06-2654-7022-41C8-85A962A6E637}"/>
              </a:ext>
            </a:extLst>
          </p:cNvPr>
          <p:cNvGrpSpPr/>
          <p:nvPr/>
        </p:nvGrpSpPr>
        <p:grpSpPr>
          <a:xfrm>
            <a:off x="1518586" y="1243441"/>
            <a:ext cx="11846978" cy="7824751"/>
            <a:chOff x="1518586" y="1243441"/>
            <a:chExt cx="11846978" cy="78247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331BB2-6E2F-1236-D894-0F9BEEB3B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8586" y="1243441"/>
              <a:ext cx="11846978" cy="782475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97290D-3288-138C-6970-B2CBD0E1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6999" y="1997693"/>
              <a:ext cx="2496486" cy="1975790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43264B-A4EA-625E-1F5A-AC4A41BDEE14}"/>
                </a:ext>
              </a:extLst>
            </p:cNvPr>
            <p:cNvSpPr/>
            <p:nvPr/>
          </p:nvSpPr>
          <p:spPr>
            <a:xfrm>
              <a:off x="7647214" y="5569404"/>
              <a:ext cx="534761" cy="26942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B2278BF-B2FE-09E8-960E-9E146F93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83559" y="1900953"/>
              <a:ext cx="2500475" cy="1989402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B4B3BC-E745-2F77-CC66-91496B9C758F}"/>
                </a:ext>
              </a:extLst>
            </p:cNvPr>
            <p:cNvSpPr/>
            <p:nvPr/>
          </p:nvSpPr>
          <p:spPr>
            <a:xfrm>
              <a:off x="9220200" y="6843032"/>
              <a:ext cx="534761" cy="26942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12791FAC-0018-71A5-F111-B1B5361244AF}"/>
                </a:ext>
              </a:extLst>
            </p:cNvPr>
            <p:cNvCxnSpPr>
              <a:stCxn id="9" idx="3"/>
            </p:cNvCxnSpPr>
            <p:nvPr/>
          </p:nvCxnSpPr>
          <p:spPr>
            <a:xfrm>
              <a:off x="5813485" y="2985588"/>
              <a:ext cx="2101109" cy="2583816"/>
            </a:xfrm>
            <a:prstGeom prst="bentConnector2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2A9581FB-0F75-93CA-4BD4-E3C982C4508D}"/>
                </a:ext>
              </a:extLst>
            </p:cNvPr>
            <p:cNvCxnSpPr>
              <a:stCxn id="12" idx="1"/>
              <a:endCxn id="14" idx="0"/>
            </p:cNvCxnSpPr>
            <p:nvPr/>
          </p:nvCxnSpPr>
          <p:spPr>
            <a:xfrm rot="10800000" flipV="1">
              <a:off x="9487581" y="2895654"/>
              <a:ext cx="595978" cy="3947378"/>
            </a:xfrm>
            <a:prstGeom prst="bentConnector2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CF1DCA3-0329-4B45-B372-5F260F779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6999" y="6721626"/>
              <a:ext cx="2488767" cy="1972494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7C5F34-F6D6-4C22-061D-FC8F4058C7EA}"/>
                </a:ext>
              </a:extLst>
            </p:cNvPr>
            <p:cNvSpPr/>
            <p:nvPr/>
          </p:nvSpPr>
          <p:spPr>
            <a:xfrm>
              <a:off x="8443685" y="6914242"/>
              <a:ext cx="534761" cy="26942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6B8536E4-A263-203E-07A4-4D592F8F1FAD}"/>
                </a:ext>
              </a:extLst>
            </p:cNvPr>
            <p:cNvCxnSpPr>
              <a:cxnSpLocks/>
              <a:stCxn id="28" idx="1"/>
              <a:endCxn id="26" idx="3"/>
            </p:cNvCxnSpPr>
            <p:nvPr/>
          </p:nvCxnSpPr>
          <p:spPr>
            <a:xfrm rot="10800000" flipV="1">
              <a:off x="5805767" y="7048953"/>
              <a:ext cx="2637919" cy="658920"/>
            </a:xfrm>
            <a:prstGeom prst="bentConnector3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Caption 105">
              <a:extLst>
                <a:ext uri="{FF2B5EF4-FFF2-40B4-BE49-F238E27FC236}">
                  <a16:creationId xmlns:a16="http://schemas.microsoft.com/office/drawing/2014/main" id="{858DB684-1E6D-C6B2-5405-A074E5B28144}"/>
                </a:ext>
              </a:extLst>
            </p:cNvPr>
            <p:cNvSpPr txBox="1"/>
            <p:nvPr/>
          </p:nvSpPr>
          <p:spPr>
            <a:xfrm>
              <a:off x="3830354" y="4051994"/>
              <a:ext cx="1330328" cy="259896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Proxima Nova Lt" panose="02000506030000020004" pitchFamily="50" charset="0"/>
                  <a:ea typeface="Calibri"/>
                </a:rPr>
                <a:t>Well Pad A</a:t>
              </a:r>
            </a:p>
          </p:txBody>
        </p:sp>
        <p:sp>
          <p:nvSpPr>
            <p:cNvPr id="35" name="Caption 105">
              <a:extLst>
                <a:ext uri="{FF2B5EF4-FFF2-40B4-BE49-F238E27FC236}">
                  <a16:creationId xmlns:a16="http://schemas.microsoft.com/office/drawing/2014/main" id="{2DE18CCB-AE42-C902-B6A0-DD3F666E794D}"/>
                </a:ext>
              </a:extLst>
            </p:cNvPr>
            <p:cNvSpPr txBox="1"/>
            <p:nvPr/>
          </p:nvSpPr>
          <p:spPr>
            <a:xfrm>
              <a:off x="10724001" y="3973483"/>
              <a:ext cx="1330328" cy="259896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Proxima Nova Lt" panose="02000506030000020004" pitchFamily="50" charset="0"/>
                  <a:ea typeface="Calibri"/>
                </a:rPr>
                <a:t>Well Pad D</a:t>
              </a:r>
            </a:p>
          </p:txBody>
        </p:sp>
        <p:sp>
          <p:nvSpPr>
            <p:cNvPr id="37" name="Caption 105">
              <a:extLst>
                <a:ext uri="{FF2B5EF4-FFF2-40B4-BE49-F238E27FC236}">
                  <a16:creationId xmlns:a16="http://schemas.microsoft.com/office/drawing/2014/main" id="{972A528D-C648-8C1C-7ADB-19287CA7610D}"/>
                </a:ext>
              </a:extLst>
            </p:cNvPr>
            <p:cNvSpPr txBox="1"/>
            <p:nvPr/>
          </p:nvSpPr>
          <p:spPr>
            <a:xfrm>
              <a:off x="3914307" y="8741942"/>
              <a:ext cx="1330328" cy="259896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Proxima Nova Lt" panose="02000506030000020004" pitchFamily="50" charset="0"/>
                  <a:ea typeface="Calibri"/>
                </a:rPr>
                <a:t>Log Yard &amp; Camp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01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94A6-65F6-2473-4182-F6A6391E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97E35D-492A-16AA-5E1F-6B7D68B1193B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r>
              <a:rPr lang="en-US" altLang="en-GB" sz="2800" b="1" dirty="0">
                <a:solidFill>
                  <a:schemeClr val="bg1"/>
                </a:solidFill>
              </a:rPr>
              <a:t>SOIL STRATIGRAPHY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349B2E6A-88B2-AADF-E362-2387EC1BE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F689824-CE55-46FF-335F-523FE7F52A54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48BCC2A-8C3C-1647-B070-A2EB8883490D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>
                  <a:latin typeface="Proxima Nova Lt" panose="02000506030000020004" pitchFamily="50" charset="0"/>
                </a:rPr>
                <a:t>GEOTECHNICAL INVESTIGATION &amp; DETAILED ENGINEERING DESIGN</a:t>
              </a:r>
            </a:p>
            <a:p>
              <a:pPr algn="r"/>
              <a:r>
                <a:rPr lang="en-GB" b="1" dirty="0">
                  <a:latin typeface="Proxima Nova Lt" panose="02000506030000020004" pitchFamily="50" charset="0"/>
                </a:rPr>
                <a:t>BORA PULU GEOTHERMAL PSPE AREA</a:t>
              </a:r>
              <a:endParaRPr lang="en-US" b="1" dirty="0">
                <a:latin typeface="Proxima Nova Lt" panose="02000506030000020004" pitchFamily="50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9CACE67-F168-3EED-1F55-31A08CC5AF5D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8FD08ED-9968-9A76-6EAC-ABC7D6CF8575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C219EAFA-C29A-488F-4F0B-674B4206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fld id="{1E55F506-3E97-4CD9-849B-81614FC9B9A8}" type="slidenum">
              <a:rPr lang="en-ID" sz="4400" smtClean="0">
                <a:solidFill>
                  <a:schemeClr val="bg1"/>
                </a:solidFill>
              </a:rPr>
              <a:t>3</a:t>
            </a:fld>
            <a:endParaRPr lang="en-ID" sz="4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6EDFD-38D5-94F5-2E3B-555496632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55" y="991903"/>
            <a:ext cx="13035294" cy="713421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7C0AF64-6030-20EB-E585-98812ED89572}"/>
              </a:ext>
            </a:extLst>
          </p:cNvPr>
          <p:cNvGrpSpPr/>
          <p:nvPr/>
        </p:nvGrpSpPr>
        <p:grpSpPr>
          <a:xfrm>
            <a:off x="238254" y="8363487"/>
            <a:ext cx="11166219" cy="1254455"/>
            <a:chOff x="238254" y="8363487"/>
            <a:chExt cx="11166219" cy="12544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B318E4E-BE1E-134C-63DF-EF16FE481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6390"/>
            <a:stretch>
              <a:fillRect/>
            </a:stretch>
          </p:blipFill>
          <p:spPr>
            <a:xfrm>
              <a:off x="238254" y="8377100"/>
              <a:ext cx="6076950" cy="12408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02C482F-77E2-7430-D584-08403C988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6708"/>
            <a:stretch>
              <a:fillRect/>
            </a:stretch>
          </p:blipFill>
          <p:spPr>
            <a:xfrm>
              <a:off x="5327523" y="8363487"/>
              <a:ext cx="6076950" cy="1002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400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0274-6FD6-1C0E-AB52-C40AAF3E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DD71-CF86-CCA3-93DA-664CC4C083D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707894"/>
            <a:ext cx="15119350" cy="2260028"/>
          </a:xfrm>
        </p:spPr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</a:rPr>
              <a:t>B. BEARING CAPACITY &amp; SETTLEMENT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01FC6-D041-CC08-FCC9-AFACFE6E3276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32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BEARING CAPACITY &amp; SETTLEMENT: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LOAD AND AREAS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Layout 1" descr="lay_Wellpad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5811"/>
            <a:ext cx="4617720" cy="28747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80" y="4041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1. Wellpad A – general layout (BH-02, BH-05)</a:t>
            </a:r>
          </a:p>
        </p:txBody>
      </p:sp>
      <p:pic>
        <p:nvPicPr>
          <p:cNvPr id="28" name="Layout 2" descr="lay_Wellpad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145811"/>
            <a:ext cx="4617720" cy="28747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57800" y="4041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2. Wellpad D – general layout (BH-01, BH-04)</a:t>
            </a:r>
          </a:p>
        </p:txBody>
      </p:sp>
      <p:pic>
        <p:nvPicPr>
          <p:cNvPr id="30" name="Layout 3" descr="lay_Logy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19" y="1145811"/>
            <a:ext cx="4617720" cy="28747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04119" y="4041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3. Log Yard &amp; Drilling Camp – general layout (BH-03)</a:t>
            </a:r>
          </a:p>
        </p:txBody>
      </p:sp>
      <p:pic>
        <p:nvPicPr>
          <p:cNvPr id="32" name="Embankment section" descr="fig1_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777283"/>
            <a:ext cx="9052560" cy="28812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1480" y="7882127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4. Typical section: compacted fill, uniform surcharge, replacement zone and subsoil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4526280"/>
            <a:ext cx="4983480" cy="42062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459028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Design load (all areas)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875520" y="5029200"/>
          <a:ext cx="4709160" cy="3017520"/>
        </p:xfrm>
        <a:graphic>
          <a:graphicData uri="http://schemas.openxmlformats.org/drawingml/2006/table">
            <a:tbl>
              <a:tblPr firstRow="0" bandRow="0"/>
              <a:tblGrid>
                <a:gridCol w="2788920"/>
                <a:gridCol w="192024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Embankment fill height Hf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2.0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Unit weight of fill γf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18 kN/m³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Uniform surcharge qs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100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Pressure on subgrade q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136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Loaded area B × 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74 × 202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Side slope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1V : 2H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Required FS (bearing)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Required FS (lateral squeeze)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Replacement at BH-01, BH-04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1.5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9875520" y="8092440"/>
            <a:ext cx="4754880" cy="8229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q = Hf·γf + qs = 2 × 18 + 100 = 136 kPa over the whole platform. At BH-01 and BH-04 (Wellpad D) the top 1.5 m is stripped and replaced with compacted granular fill to raise the bearing capacity.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BEARING CAPACITY: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6309360" cy="75438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216152"/>
            <a:ext cx="6035040" cy="7406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How the bearing capacity is checked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Load: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q = 136 kPa at ground level on a 74 × 202 m area.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Undrained (short term):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used when silt/clay is in the top 5 m. qu = cu·Nc*·sc, with cu = 5·N.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Thin soft layer: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soft silt over dense sand cannot fail deep; it can only squeeze out sideways. Nc* = 4.14 + 0.5·B/H' ≥ 5.14 (Meyerhof 1974).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Drained (long term):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qu = 0.5·γ'·B·Nγ·sγ·rγ (Vesic 1975), φ' from N-SPT (Wolff 1989).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Design value: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smaller qu of the two; qall = qu / 3 (SNI 8460:2017).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Replacement: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top soil to depth Dr replaced with compacted granular fill; remaining soft layer H' = 3 − Dr m. Thinner H' gives higher Nc*. Adopted: Dr = 1.5 m at BH-01 and BH-04 (stripping + bearing capacity).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Lateral squeeze at the toe: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FS = 2·cu/(γf·Ds·tanθ) + 4.14·cu/q ≥ 1.5 (Silvestri 1983; FHWA-NHI-06-088). Surcharge assumed up to the crest.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Key parameters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cu = 5·N (Stroud 1974); φ' sand = 27.1 + 0.3·N60 − 0.00054·N60² (Wolff 1989); φ' silt/clay from PI; replacement fill γ = 19 kN/m³, φ' = 25°.</a:t>
            </a:r>
          </a:p>
        </p:txBody>
      </p:sp>
      <p:pic>
        <p:nvPicPr>
          <p:cNvPr id="28" name="BC mechanisms" descr="fig2_be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74181"/>
            <a:ext cx="7772400" cy="18294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49440" y="3721946"/>
            <a:ext cx="7772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5. Bearing capacity mechanisms: (a) general shear in sand, (b) squeezing of a thin soft layer</a:t>
            </a:r>
          </a:p>
        </p:txBody>
      </p:sp>
      <p:pic>
        <p:nvPicPr>
          <p:cNvPr id="30" name="Lateral squeeze" descr="fig3_squee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181442"/>
            <a:ext cx="7772400" cy="280447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0" y="8004205"/>
            <a:ext cx="7772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6. Lateral squeeze of the soft layer at the embankment toe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SETTLEMENT: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6309360" cy="45720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216152"/>
            <a:ext cx="6035040" cy="44348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How the settlement is calculated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Stress increase: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Δσz below the centre of the 74 × 202 m area (Boussinesq, 4 × corner).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Immediate (all soils):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layered elastic method (Steinbrenner 1934; Bowles 1996). Sand: drained E, ν = 0.3. Silt/clay: undrained Eu, ν = 0.5.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Sand: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immediate settlement only, no consolidation.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Consolidation (silt/clay only):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e–log σ' method; σ'p = cu/0.22; drainage on both sides (sand above and below).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Influence depth: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layers with Δσz &lt; 0.2·σ'v0 are not counted.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Not included: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post-liquefaction settlement (100–383 mm, liquefaction report), checked separately.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06440"/>
            <a:ext cx="630936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Correlations (no oedometer test available)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11480" y="6217920"/>
          <a:ext cx="6309360" cy="2304288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265176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Undrained strength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cu = 5·N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Stroud (1974)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Sand modulus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E = 1000·N60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Kulhawy &amp; Mayne (1990)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Silt/clay modulus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Eu = 500·cu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Bowles (1996)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Compression index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Cc = 0.009 (LL − 10)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Terzaghi &amp; Peck (1967)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Recompression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Cr = 0.2·Cc ; σ'p = cu/0.22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Das (2019); Mesri (1975)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Consolidation coeff.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Cv from 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NAVFAC DM-7.1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pic>
        <p:nvPicPr>
          <p:cNvPr id="30" name="Stress and elastic settlement" descr="fig4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8755"/>
            <a:ext cx="7772400" cy="29146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0" y="4401693"/>
            <a:ext cx="7772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7. Boussinesq stress below the area and layered elastic (Steinbrenner) settlement</a:t>
            </a:r>
          </a:p>
        </p:txBody>
      </p:sp>
      <p:pic>
        <p:nvPicPr>
          <p:cNvPr id="32" name="e-log curve" descr="fig5_e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523848"/>
            <a:ext cx="7772400" cy="2485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49440" y="8027559"/>
            <a:ext cx="7772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8. Compression curve used for the consolidation settlement of silt/clay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BEARING CAPACITY: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1143000"/>
          <a:ext cx="12252960" cy="2468880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  <a:gridCol w="1325880"/>
                <a:gridCol w="1325880"/>
                <a:gridCol w="914400"/>
                <a:gridCol w="868680"/>
                <a:gridCol w="1417320"/>
                <a:gridCol w="777240"/>
                <a:gridCol w="868680"/>
                <a:gridCol w="1143000"/>
                <a:gridCol w="137160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Borehole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Soft layer 0–5 m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FS no improvement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Dr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Nc*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FS design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FS lateral squeeze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Wellpad 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28.8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5.68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Wellpad 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41.5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&gt; 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&gt; 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Log Yard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61.60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61.60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Wellpad 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34.6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28.8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5.68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Wellpad 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41.1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&gt; 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&gt; 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11480" y="3657600"/>
            <a:ext cx="1234440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q = 136 kPa; required FS = 3.0 (bearing) and 1.5 (lateral squeeze). Dr = replacement depth used in the design condition (Drive version of the calculation).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20624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79392"/>
            <a:ext cx="6675120" cy="42976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What it shows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Wellpad D (BH-01, BH-04):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soft silt/clay 0–3 m (N = 5, cu ≈ 25 kPa) over dense sand governs. FS = 3.25 without improvement.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1.5 m replacement at BH-01, BH-04: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top soil stripped and replaced with compacted granular fill; H' = 1.5 m, Nc* = 28.8, FS = 5.68; lateral squeeze FS = 4.46.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Wellpad A and Log Yard: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sand only (N 10–50); FS &gt; 60. Shear failure is not an issue.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Sensitivity: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FS for Wellpad D rises with Dr (0.5 m: 3.74; 1.0 m: 4.47; 1.5 m: 5.68; 2.0 m: 8.1).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Caution: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cu comes from one SPT value (N = 5). Check cu with CPT/vane before final design.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Critical borehole per wellpad: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Wellpad A: BH-05 (FS 344 vs 373 at BH-02). Wellpad D: BH-01 and BH-04 equal (FS 5.68 with 1.5 m replacement).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20624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Bearing capacity OK at all boreholes (FS ≥ 3).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Lowest FS = 5.68 at Wellpad D with 1.5 m replacement. Global stability is checked separately (PLAXIS, next slides).</a:t>
            </a:r>
          </a:p>
        </p:txBody>
      </p:sp>
      <p:pic>
        <p:nvPicPr>
          <p:cNvPr id="31" name="BC mechanisms small" descr="fig2_be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6344013"/>
            <a:ext cx="7086600" cy="166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SETTLEMENT: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" name="Settlement chart"/>
          <p:cNvGraphicFramePr>
            <a:graphicFrameLocks noGrp="1"/>
          </p:cNvGraphicFramePr>
          <p:nvPr/>
        </p:nvGraphicFramePr>
        <p:xfrm>
          <a:off x="411480" y="114300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11480" y="6007608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 9. Immediate (Si) and consolidation (Sc) settlement; assumed allowable total settlement = 100 mm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275320" y="1143000"/>
          <a:ext cx="6446520" cy="2468880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960120"/>
                <a:gridCol w="960120"/>
                <a:gridCol w="1051560"/>
                <a:gridCol w="9144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Borehole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Sc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t90 (yr)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Post-liq. (mm)*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209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BH-05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275320" y="3657600"/>
            <a:ext cx="644652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* post-liquefaction settlement from the liquefaction report (Table 5.4), not part of the static total.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069080"/>
            <a:ext cx="6446520" cy="26974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133087"/>
            <a:ext cx="6217920" cy="2606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What it shows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Total settlement 111–209 mm: above the assumed 100 mm at all boreholes.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Wide area (74 × 202 m): the stress increase reaches deep layers.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Wellpad D: most settlement is consolidation of silt/clay (Sc 107–148 mm, after 1.5 m replacement).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Consolidation is fast (t90 &lt; 0.2 yr): thin silt layers drain to sand.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262626"/>
                </a:solidFill>
                <a:latin typeface="Calibri"/>
              </a:rPr>
              <a:t>Critical borehole per wellpad: Wellpad A BH-02 (131 mm, vs 111 mm at BH-05); Wellpad D BH-04 (209 mm, vs 200 mm at BH-01).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6949440"/>
            <a:ext cx="6446520" cy="169164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Settlement governs, not bearing capacity.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Confirm the settlement limit. Settle the platform before building sensitive items (preload / surcharge); keep the rig on piles.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STABILITY (PLAXIS 2D):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AND LOADS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48006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s_g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223142"/>
            <a:ext cx="4690872" cy="26743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3986783"/>
            <a:ext cx="4800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(a) Wellpad A (BH-02): sand at surface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1143000"/>
            <a:ext cx="48006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s_g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1223142"/>
            <a:ext cx="4690872" cy="26743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94960" y="3986783"/>
            <a:ext cx="4800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(b) Wellpad D (BH-04): firm silty clay 0–3 m, 1.5 m replaced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434840"/>
            <a:ext cx="97840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Calculation stages and required safety factor (SNI 8460:2017)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4846320"/>
          <a:ext cx="9784080" cy="219456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4023360"/>
                <a:gridCol w="146304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Analysis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FS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0. Initial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K0 procedure; GWL −7.0 m (A), −9.0 m (D)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1. Fill + 100 kPa surcharge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Plastic; clay Undrained (A), sand 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Short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2. Consolidation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Excess pore pressure dissipated (3,664 days)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Long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3. Pseudo-static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kh = 0.35, kv = 0 (towards the slope)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Earthquake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φ–c reduction after stages 1, 2 and 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>FS = ΣMsf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11480" y="7086600"/>
            <a:ext cx="9784080" cy="1463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Plane-strain section across the platform (short side, 74 m) including the excavation next to the platform edge.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Hardening Soil model for all soils; parameters on the next slide (same layering as the Midas model).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kh = 0.5 × PGAM = 0.5 × 0.69 g ≈ 0.35 (PGA 0.63 g, site class SD, FPGA 1.1; BP-00-HZD-RPT-001).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1143000"/>
            <a:ext cx="434340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Design load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0378440" y="1554480"/>
          <a:ext cx="4343400" cy="2779776"/>
        </p:xfrm>
        <a:graphic>
          <a:graphicData uri="http://schemas.openxmlformats.org/drawingml/2006/table">
            <a:tbl>
              <a:tblPr firstRow="0" bandRow="0"/>
              <a:tblGrid>
                <a:gridCol w="2423160"/>
                <a:gridCol w="19202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Embankment fill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2.0 m, γ = 18 kN/m³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Fill pressure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36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Uniform surcharge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100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Total pressure q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136 kPa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Side slope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1V : 2H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Replacement (Wellpad 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1.5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Seismic coefficient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kh 0.35, kv 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10378440" y="4526280"/>
            <a:ext cx="4343400" cy="40690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590288"/>
            <a:ext cx="4069080" cy="3931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Notes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The 100 kPa surcharge is applied over the full platform, up to the crest of the slope (conservative).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Wellpad D: replacement increased from 0.5 m to 1.5 m for this analysis (also used in the bearing capacity and settlement results).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Liquefaction is not included in the pseudo-static case; a post-earthquake check with residual strength is still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STABILITY: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PARAMETERS (HARDENING SOIL)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" y="114300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Wellpad A (BH-02), GWL −7.0 m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1554480"/>
          <a:ext cx="6446520" cy="2633472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868680"/>
                <a:gridCol w="548640"/>
                <a:gridCol w="777240"/>
                <a:gridCol w="960120"/>
                <a:gridCol w="777240"/>
                <a:gridCol w="457200"/>
                <a:gridCol w="548640"/>
                <a:gridCol w="502920"/>
                <a:gridCol w="4572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Soil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Drain.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γ / γsat (kN/m³)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E50ref (MPa)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ψ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0–7.5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60.0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41.0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7.5–12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34.0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12–15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15–28.5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28.5–48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38.9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34.3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48–54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54–60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18.5/18.5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35.6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680960" y="114300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Wellpad D (BH-04; BH-01 below 25 m), GWL −9.0 m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680960" y="1554480"/>
          <a:ext cx="6446520" cy="2962656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868680"/>
                <a:gridCol w="548640"/>
                <a:gridCol w="777240"/>
                <a:gridCol w="960120"/>
                <a:gridCol w="777240"/>
                <a:gridCol w="457200"/>
                <a:gridCol w="548640"/>
                <a:gridCol w="502920"/>
                <a:gridCol w="4572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Soil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Drain.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γ / γsat (kN/m³)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E50ref (MPa)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ψ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0–3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19.6/20.2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17.4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3–7.5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19.6/20.2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39.5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7.5–10.5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19.6/20.2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10.5–19.5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19.6/20.2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19.5–24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19.6/20.2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24–28.5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17.8/19.2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28.5–49.5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Undr. (A)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17.8/19.2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24.9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49.5–60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Sand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Drained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17.8/19.2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29.1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11480" y="470916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Fill materials (assumed, no lab test yet)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11480" y="5120640"/>
          <a:ext cx="6903720" cy="1042416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371600"/>
                <a:gridCol w="960120"/>
                <a:gridCol w="1097280"/>
                <a:gridCol w="868680"/>
                <a:gridCol w="7772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Thickness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γ / γsat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E50ref (MPa)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Embankment fill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2.0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18 / 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Replacement fill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1.5 m (WPD)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19 / 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7680960" y="5212080"/>
            <a:ext cx="7040880" cy="33832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276088"/>
            <a:ext cx="6766560" cy="32461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Common input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Eoed,ref = E50,ref; Eur,ref = 3·E50,ref; νur = 0.2; Rf = 0.9; pref = 100 kPa.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OCR = 1 and POP = 0 for all layers (lesson from the Midas back-analysis).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Sand: φ' from (N1)60 (Wolff 1989), E50ref = 60·Dr MPa. Clay: E50ref from N, c'/φ' by consistency (assumed).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Interface: Rinter 0.67 (sand), 0.70 (clay). Permeability: USDA defaults.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C00000"/>
                </a:solidFill>
                <a:latin typeface="Calibri"/>
              </a:rPr>
              <a:t>Critical layer for Wellpad D: L01 firm silty clay, N = 5, c' = 2 kPa, φ' = 24° (red).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263640"/>
            <a:ext cx="7040880" cy="21945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Depth measured from the original ground surface; fill and replacement are separate clusters.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STABILITY – WELLPAD A: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PLAXIS RESULTS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s_g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248378"/>
            <a:ext cx="4919472" cy="180092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3163824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Short term: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2.161 ≥ 1.25  </a:t>
            </a:r>
            <a:r>
              <a:rPr sz="1250" b="1" i="0">
                <a:solidFill>
                  <a:srgbClr val="00B050"/>
                </a:solidFill>
                <a:latin typeface="Calibri"/>
              </a:rPr>
              <a:t>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61188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s_g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741057"/>
            <a:ext cx="4919472" cy="17533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5632704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Long term: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2.018 ≥ 1.50  </a:t>
            </a:r>
            <a:r>
              <a:rPr sz="1250" b="1" i="0">
                <a:solidFill>
                  <a:srgbClr val="00B050"/>
                </a:solidFill>
                <a:latin typeface="Calibri"/>
              </a:rPr>
              <a:t>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608076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s_g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6248919"/>
            <a:ext cx="4919472" cy="167536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8101583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Earthquake (kh 0.35):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1.109 ≥ 1.10  </a:t>
            </a:r>
            <a:r>
              <a:rPr sz="1250" b="1" i="0">
                <a:solidFill>
                  <a:srgbClr val="00B050"/>
                </a:solidFill>
                <a:latin typeface="Calibri"/>
              </a:rPr>
              <a:t>OK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143000"/>
          <a:ext cx="4389120" cy="146304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731520"/>
                <a:gridCol w="73152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FS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Short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2.161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Long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2.018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Earthquake (kh 0.35)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1.109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5623560" y="2743200"/>
            <a:ext cx="43891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s_g2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525" y="2798063"/>
            <a:ext cx="4239189" cy="29077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23560" y="5769864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Total displacement, long term: 126 mm (1D estimate 131 mm, BH-02)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6400800"/>
            <a:ext cx="4389120" cy="219456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Wellpad A: global stability OK.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All three cases meet the minimum FS. The earthquake case (1.109) is only just above 1.10.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5560" y="1143000"/>
            <a:ext cx="4526280" cy="745236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1207008"/>
            <a:ext cx="4251960" cy="7315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What it shows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Slip surface is shallow and local: at the platform edge, through the fill slope towards the excavation. The deep subsoil is not involved.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Static FS are high (2.16 short term, 2.02 long term): dense sand at the surface (N ≈ 48).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Earthquake FS 1.109 is marginal: a heavier load near the crest or a weaker fill could bring it below 1.10.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Long-term displacement 126 mm agrees with the 1D estimate (131 mm at BH-02).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Action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Confirm the load plan near the platform edge (surcharge up to the crest was assumed).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262626"/>
                </a:solidFill>
                <a:latin typeface="Calibri"/>
              </a:rPr>
              <a:t>Specify fill compaction so that the assumed fill strength (φ' 30°, c' 5 kPa) is achieved.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STABILITY – WELLPAD D: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PLAXIS (1.5 m REPLACEMENT)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s_g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7" y="1197864"/>
            <a:ext cx="4745025" cy="19019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3163824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Short term: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1.341 ≥ 1.25  </a:t>
            </a:r>
            <a:r>
              <a:rPr sz="1250" b="1" i="0">
                <a:solidFill>
                  <a:srgbClr val="00B050"/>
                </a:solidFill>
                <a:latin typeface="Calibri"/>
              </a:rPr>
              <a:t>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61188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s_g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41" y="3666744"/>
            <a:ext cx="4732877" cy="1901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5632704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Long term: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1.301 &lt; 1.50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NOT 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608076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s_g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90" y="6135624"/>
            <a:ext cx="4257378" cy="19019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8101583"/>
            <a:ext cx="50292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Earthquake (kh 0.35):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FS = 0.900 &lt; 1.10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NOT OK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143000"/>
          <a:ext cx="4389120" cy="146304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731520"/>
                <a:gridCol w="73152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FS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Short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1.341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B05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Long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1.301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NOT 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Earthquake (kh 0.35)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</a:rPr>
                        <a:t>NOT 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5623560" y="2743200"/>
            <a:ext cx="43891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s_g6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525" y="2798063"/>
            <a:ext cx="4239189" cy="29077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23560" y="5769864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Total displacement, long term: 176 mm (1D estimate 209 mm, BH-04)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6400800"/>
            <a:ext cx="4389120" cy="2194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Wellpad D: NOT OK, even with 1.5 m replacement.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Long term FS 1.30 &lt; 1.50 (needs +15 %). Earthquake FS 0.90 &lt; 1.10 (needs +22 %); FS &lt; 1.0 means the edge slips in the design earthquake.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5560" y="1143000"/>
            <a:ext cx="4526280" cy="745236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1207008"/>
            <a:ext cx="4251960" cy="7315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311927"/>
                </a:solidFill>
                <a:latin typeface="Calibri"/>
              </a:rPr>
              <a:t>Why the minimum FS is not met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Slip surface at the platform edge, towards the excavation, through the fill, the 1.5 m replacement and the remaining 1.5 m of firm silty clay (L01: N = 5, c' = 2 kPa, φ' = 24°).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Replacement raised the bearing capacity (FS 5.68), but it does not cut this slip surface: the problem is an edge (slope) failure, not bearing failure under the platform.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Long term is lower than short term: after consolidation the clay only has its low drained strength (c' 2 kPa).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kh = 0.35 adds a large horizontal force on the fill and the 100 kPa surcharge near the crest.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311927"/>
                </a:solidFill>
                <a:latin typeface="Calibri"/>
              </a:rPr>
              <a:t>Options to be studied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Replace the full clay layer (3.0 m, down to dense sand N ≈ 42), at least along the edge and under the excavation slope.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Flatter slope or toe berm; increase the distance between the platform edge and the excavation.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Keep the surcharge away from the crest (confirm the load plan).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Basal geogrid under the fill edge.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Triaxial CU/CD tests on L01 clay: c'/φ' are assumed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A2FD-D446-A246-B46A-0C9B765E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DDE8-D77A-31C0-02CB-94EE1A224E5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707894"/>
            <a:ext cx="15119350" cy="2260028"/>
          </a:xfrm>
        </p:spPr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</a:rPr>
              <a:t>C. RIG FOUNDATION ANALYSIS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49B63-51FA-FDD6-EC5E-D4BA2C684B5D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61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9B3B-9653-AD85-0CF4-4BBB394A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55C2-79CB-90A8-FA26-9B5ADBE13B3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431131"/>
            <a:ext cx="15119350" cy="2260028"/>
          </a:xfrm>
        </p:spPr>
        <p:txBody>
          <a:bodyPr>
            <a:normAutofit/>
          </a:bodyPr>
          <a:lstStyle/>
          <a:p>
            <a:r>
              <a:rPr lang="en-US" sz="4800" b="1" dirty="0"/>
              <a:t>RIG FOUNDATION ANALYSIS</a:t>
            </a:r>
            <a:br>
              <a:rPr lang="en-US" sz="4800" b="1" dirty="0"/>
            </a:br>
            <a:r>
              <a:rPr lang="en-US" sz="4800" b="1" dirty="0"/>
              <a:t>MAT FOUNDATION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318FA-E79F-4EE3-C508-804A23155306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73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2E2579-3974-007B-EA73-32D0438607CE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 FOUNDATION OPTION: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AND METHOD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851012FE-33BF-4FBE-71D6-D94CB090B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44E4997-868C-E756-78F7-4174A96F0DEC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419AD4-47B5-AD47-2DA2-554DFEC80853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DD23E-BB92-AE3D-D5FA-21F4428540F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8CD5C4-D3C6-EAF6-E045-BB792A64861B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6102599-CEBD-BE11-11DD-31D38D6C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0C8AE8-D5E5-B493-070B-A98A0FB11577}"/>
              </a:ext>
            </a:extLst>
          </p:cNvPr>
          <p:cNvGrpSpPr/>
          <p:nvPr/>
        </p:nvGrpSpPr>
        <p:grpSpPr>
          <a:xfrm>
            <a:off x="397510" y="2546604"/>
            <a:ext cx="7589520" cy="5788152"/>
            <a:chOff x="365760" y="1161288"/>
            <a:chExt cx="7589520" cy="5788152"/>
          </a:xfrm>
        </p:grpSpPr>
        <p:sp>
          <p:nvSpPr>
            <p:cNvPr id="101" name="Shape 101"/>
            <p:cNvSpPr/>
            <p:nvPr/>
          </p:nvSpPr>
          <p:spPr>
            <a:xfrm>
              <a:off x="365760" y="1234440"/>
              <a:ext cx="502920" cy="502920"/>
            </a:xfrm>
            <a:prstGeom prst="ellipse">
              <a:avLst/>
            </a:prstGeom>
            <a:solidFill>
              <a:srgbClr val="311927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05840" y="1161288"/>
              <a:ext cx="6949440" cy="1143000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norm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31192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Geometry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2-cellar mat 24 x 14 x 1.5 m with two cellar openings 3.75 x 3.5 m. Base at Df = 1.0 m. Contact area A = 309.75 m².</a:t>
              </a:r>
            </a:p>
          </p:txBody>
        </p:sp>
        <p:sp>
          <p:nvSpPr>
            <p:cNvPr id="103" name="Shape 103"/>
            <p:cNvSpPr/>
            <p:nvPr/>
          </p:nvSpPr>
          <p:spPr>
            <a:xfrm>
              <a:off x="365760" y="2423160"/>
              <a:ext cx="502920" cy="502920"/>
            </a:xfrm>
            <a:prstGeom prst="ellipse">
              <a:avLst/>
            </a:prstGeom>
            <a:solidFill>
              <a:srgbClr val="311927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Shape 105"/>
            <p:cNvSpPr/>
            <p:nvPr/>
          </p:nvSpPr>
          <p:spPr>
            <a:xfrm>
              <a:off x="365760" y="3611880"/>
              <a:ext cx="502920" cy="502920"/>
            </a:xfrm>
            <a:prstGeom prst="ellipse">
              <a:avLst/>
            </a:prstGeom>
            <a:solidFill>
              <a:srgbClr val="311927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Shape 107"/>
            <p:cNvSpPr/>
            <p:nvPr/>
          </p:nvSpPr>
          <p:spPr>
            <a:xfrm>
              <a:off x="365760" y="4800600"/>
              <a:ext cx="502920" cy="502920"/>
            </a:xfrm>
            <a:prstGeom prst="ellipse">
              <a:avLst/>
            </a:prstGeom>
            <a:solidFill>
              <a:srgbClr val="311927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05840" y="2299825"/>
              <a:ext cx="6949440" cy="1143000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norm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31192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Resultant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All loads are moved to the centre of the mat base (V, Hy, Hz, MY, MZ). Resultant point yR = -MZ/V, zR = MY/V. </a:t>
              </a:r>
            </a:p>
          </p:txBody>
        </p:sp>
        <p:sp>
          <p:nvSpPr>
            <p:cNvPr id="109" name="Shape 109"/>
            <p:cNvSpPr/>
            <p:nvPr/>
          </p:nvSpPr>
          <p:spPr>
            <a:xfrm>
              <a:off x="365760" y="5989320"/>
              <a:ext cx="502920" cy="502920"/>
            </a:xfrm>
            <a:prstGeom prst="ellipse">
              <a:avLst/>
            </a:prstGeom>
            <a:solidFill>
              <a:srgbClr val="311927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05840" y="3431877"/>
              <a:ext cx="6949440" cy="1143000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norm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31192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Contact pressure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Rigid mat, linear pressure, cellars removed from A and I. If q min &lt; 0, a no-tension solution is used.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05840" y="4774406"/>
              <a:ext cx="6949440" cy="1143000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norm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31192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Bearing capacity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Terzaghi (1943) and Meyerhof (1963) on the effective area B' x L’. 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05840" y="5806440"/>
              <a:ext cx="6949440" cy="1143000"/>
            </a:xfrm>
            <a:prstGeom prst="rect">
              <a:avLst/>
            </a:prstGeom>
            <a:noFill/>
          </p:spPr>
          <p:txBody>
            <a:bodyPr wrap="square" lIns="45720" tIns="45720" rIns="45720" bIns="45720" anchor="t">
              <a:norm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31192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After liquefaction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2:1 spread check, Meyerhof &amp; Hanna (1978) two-layer check, and settlement (Idriss &amp; Boulanger 2008).</a:t>
              </a:r>
            </a:p>
          </p:txBody>
        </p:sp>
      </p:grpSp>
      <p:pic>
        <p:nvPicPr>
          <p:cNvPr id="115" name="Mat geometry" descr="Mat geome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88720"/>
            <a:ext cx="6492240" cy="4221222"/>
          </a:xfrm>
          <a:prstGeom prst="rect">
            <a:avLst/>
          </a:prstGeom>
        </p:spPr>
      </p:pic>
      <p:sp>
        <p:nvSpPr>
          <p:cNvPr id="116" name="TextBox 116"/>
          <p:cNvSpPr txBox="1"/>
          <p:nvPr/>
        </p:nvSpPr>
        <p:spPr>
          <a:xfrm>
            <a:off x="8229600" y="5440680"/>
            <a:ext cx="64922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Figure 1. Mat plan, cellar openings and rig load points.</a:t>
            </a:r>
          </a:p>
        </p:txBody>
      </p:sp>
      <p:sp>
        <p:nvSpPr>
          <p:cNvPr id="117" name="Shape 117"/>
          <p:cNvSpPr/>
          <p:nvPr/>
        </p:nvSpPr>
        <p:spPr>
          <a:xfrm>
            <a:off x="8229600" y="5943600"/>
            <a:ext cx="6492240" cy="35204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TextBox 118"/>
          <p:cNvSpPr txBox="1"/>
          <p:nvPr/>
        </p:nvSpPr>
        <p:spPr>
          <a:xfrm>
            <a:off x="8412480" y="6035040"/>
            <a:ext cx="6126480" cy="33375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data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309.75 m², Iz = 15,152 m⁴, Iy = 5,461 m⁴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 (core):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±4.08 m in Y and ±2.52 m in Z. Resultant inside kern = no uplift.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GWT: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7.0 m (WPA), 9.0 m (WPD). Top of liquefied layer 7.0 m and 9.75 m.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Required SF: 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for ASD1, ASD2. 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for seismic ASD3, 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ASD4. 1.1 after liquefaction.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Contact pressure plans" descr="Contact pressure pla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36067"/>
            <a:ext cx="8632371" cy="8366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2E2579-3974-007B-EA73-32D0438607CE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CONTACT PRESSURE: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LOAD COMBINATIONS (PLAN)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851012FE-33BF-4FBE-71D6-D94CB090B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44E4997-868C-E756-78F7-4174A96F0DEC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419AD4-47B5-AD47-2DA2-554DFEC80853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DD23E-BB92-AE3D-D5FA-21F4428540F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8CD5C4-D3C6-EAF6-E045-BB792A64861B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6102599-CEBD-BE11-11DD-31D38D6C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Shape 119"/>
          <p:cNvSpPr/>
          <p:nvPr/>
        </p:nvSpPr>
        <p:spPr>
          <a:xfrm>
            <a:off x="365760" y="1188720"/>
            <a:ext cx="6309360" cy="23774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548640" y="1280160"/>
            <a:ext cx="5943600" cy="21945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the pressure is found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q(y,z) = V/A + (V·yR/Iz)·y + (V·zR/Iy)·z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 check: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|yR|/4.08 + |zR|/2.52 ≤ 1: whole mat in compression.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tension: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q min &lt; 0, solved again with zero pressure on the lifted part.</a:t>
            </a:r>
          </a:p>
        </p:txBody>
      </p:sp>
      <p:graphicFrame>
        <p:nvGraphicFramePr>
          <p:cNvPr id="121" name="Table 121"/>
          <p:cNvGraphicFramePr>
            <a:graphicFrameLocks noGrp="1"/>
          </p:cNvGraphicFramePr>
          <p:nvPr/>
        </p:nvGraphicFramePr>
        <p:xfrm>
          <a:off x="411480" y="3749040"/>
          <a:ext cx="6153912" cy="2468880"/>
        </p:xfrm>
        <a:graphic>
          <a:graphicData uri="http://schemas.openxmlformats.org/drawingml/2006/table">
            <a:tbl>
              <a:tblPr firstRow="1" band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V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yR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zR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Kern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 avg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 max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17,624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73,857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-0.45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272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46,358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19,721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19,721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-0.18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TextBox 122"/>
          <p:cNvSpPr txBox="1"/>
          <p:nvPr/>
        </p:nvSpPr>
        <p:spPr>
          <a:xfrm>
            <a:off x="411480" y="6263640"/>
            <a:ext cx="63093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 in kPa. Same loads, so same pressure for WPA and WPD.</a:t>
            </a:r>
          </a:p>
        </p:txBody>
      </p:sp>
      <p:sp>
        <p:nvSpPr>
          <p:cNvPr id="123" name="Shape 123"/>
          <p:cNvSpPr/>
          <p:nvPr/>
        </p:nvSpPr>
        <p:spPr>
          <a:xfrm>
            <a:off x="365760" y="6675120"/>
            <a:ext cx="6309360" cy="278892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548640" y="6766560"/>
            <a:ext cx="5943600" cy="2606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it shows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uplift: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resultants inside the kern (max ratio 0.23).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Highest pressure: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272 kPa at corner Y = -12, Z = -7 m (ASD2(max)).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Resultant: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 offset 0.72 m from the centre, so the pressure is almost uniform (q max / q avg ≤ 1.23).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2E2579-3974-007B-EA73-32D0438607CE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BEARING CAPACITY: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FAILURE MECHANISM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851012FE-33BF-4FBE-71D6-D94CB090B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44E4997-868C-E756-78F7-4174A96F0DEC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419AD4-47B5-AD47-2DA2-554DFEC80853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DD23E-BB92-AE3D-D5FA-21F4428540F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8CD5C4-D3C6-EAF6-E045-BB792A64861B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6102599-CEBD-BE11-11DD-31D38D6C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5" name="Terzaghi failure mechanism" descr="Terzaghi failure mechanis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10607040" cy="5432208"/>
          </a:xfrm>
          <a:prstGeom prst="rect">
            <a:avLst/>
          </a:prstGeom>
        </p:spPr>
      </p:pic>
      <p:sp>
        <p:nvSpPr>
          <p:cNvPr id="136" name="TextBox 136"/>
          <p:cNvSpPr txBox="1"/>
          <p:nvPr/>
        </p:nvSpPr>
        <p:spPr>
          <a:xfrm>
            <a:off x="365760" y="6620928"/>
            <a:ext cx="106070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Figure. Terzaghi failure mechanism drawn to scale for ASD2(max). Background: soil layers, light blue = liquefiable.</a:t>
            </a:r>
          </a:p>
        </p:txBody>
      </p:sp>
      <p:sp>
        <p:nvSpPr>
          <p:cNvPr id="137" name="Shape 137"/>
          <p:cNvSpPr/>
          <p:nvPr/>
        </p:nvSpPr>
        <p:spPr>
          <a:xfrm>
            <a:off x="11201400" y="1188720"/>
            <a:ext cx="3520440" cy="45720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TextBox 138"/>
          <p:cNvSpPr txBox="1"/>
          <p:nvPr/>
        </p:nvSpPr>
        <p:spPr>
          <a:xfrm>
            <a:off x="11384280" y="1280160"/>
            <a:ext cx="3154680" cy="43891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Terzaghi works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 I: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wedge under the mat moves down with it (angle φ).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 II: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shears along a log spiral, r = r0·e^(θ·tanφ).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 III: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beside the mat is pushed up (passive, 45 - φ/2).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Resistance: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q·Nq (weight of soil beside the mat) + 0.5·γ·B'·Nγ (soil weight inside the mechanism).</a:t>
            </a:r>
          </a:p>
        </p:txBody>
      </p:sp>
      <p:graphicFrame>
        <p:nvGraphicFramePr>
          <p:cNvPr id="139" name="Table 139"/>
          <p:cNvGraphicFramePr>
            <a:graphicFrameLocks noGrp="1"/>
          </p:cNvGraphicFramePr>
          <p:nvPr/>
        </p:nvGraphicFramePr>
        <p:xfrm>
          <a:off x="11247120" y="5943600"/>
          <a:ext cx="3429000" cy="307238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φ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37.3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33.5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Nq / Nγ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56 / 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34 / 36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q·Nq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0.5γB'Nγ s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4,847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2,679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qu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5,747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3,225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q'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FS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0" name="Shape 140"/>
          <p:cNvSpPr/>
          <p:nvPr/>
        </p:nvSpPr>
        <p:spPr>
          <a:xfrm>
            <a:off x="365760" y="7178040"/>
            <a:ext cx="10607040" cy="22860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548640" y="7269480"/>
            <a:ext cx="10241280" cy="21031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Big mechanism: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failure surface goes about 24 m (WPA) and 21 m (WPD) below the mat base, and the zone is 165 m and 132 m wide.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passes through the liquefiable layers: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high static FS is valid only when the sand does not liquefy. After liquefaction the mat must be checked as crust over weak soil (next slides).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2E2579-3974-007B-EA73-32D0438607CE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BEARING CAPACITY: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 LIQUEFACTION</a:t>
            </a:r>
            <a:r>
              <a:rPr lang="en-US" altLang="en-GB" sz="2800" b="1" dirty="0">
                <a:solidFill>
                  <a:srgbClr val="FFFF00"/>
                </a:solidFill>
                <a:latin typeface="Calibri"/>
              </a:rPr>
              <a:t> CONDITION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851012FE-33BF-4FBE-71D6-D94CB090B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44E4997-868C-E756-78F7-4174A96F0DEC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419AD4-47B5-AD47-2DA2-554DFEC80853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DD23E-BB92-AE3D-D5FA-21F4428540F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8CD5C4-D3C6-EAF6-E045-BB792A64861B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6102599-CEBD-BE11-11DD-31D38D6C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Shape 129"/>
          <p:cNvSpPr/>
          <p:nvPr/>
        </p:nvSpPr>
        <p:spPr>
          <a:xfrm>
            <a:off x="365760" y="1188720"/>
            <a:ext cx="7315200" cy="42062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TextBox 130"/>
          <p:cNvSpPr txBox="1"/>
          <p:nvPr/>
        </p:nvSpPr>
        <p:spPr>
          <a:xfrm>
            <a:off x="548640" y="1280160"/>
            <a:ext cx="6949440" cy="4023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119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Terzaghi (1943):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 = q·Nq + 0.5·γ·B'·Nγ·(1 - 0.2B'/L'), c = 0, Nγ from Coduto (2001).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Meyerhof (1963):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 = q·Nq·sq·dq·iq + 0.5·γ·B'·Nγ·sγ·dγ·iγ, Nγ = (Nq - 1)·tan(1.4φ).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Effective area: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B' = B - 2e, L' = L - 2e. q' = V / A', A' reduced for the cellars.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 table: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γe = γ' + (d/B)(γ - γ'), d = depth of GWT below mat base.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φ design: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thickness-weighted average from Df to Df + B (1 to 15 m).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Inclination: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 = atan(H/V), used only in Meyerhof.</a:t>
            </a:r>
          </a:p>
        </p:txBody>
      </p:sp>
      <p:graphicFrame>
        <p:nvGraphicFramePr>
          <p:cNvPr id="131" name="Table 131"/>
          <p:cNvGraphicFramePr>
            <a:graphicFrameLocks noGrp="1"/>
          </p:cNvGraphicFramePr>
          <p:nvPr/>
        </p:nvGraphicFramePr>
        <p:xfrm>
          <a:off x="8001000" y="1188720"/>
          <a:ext cx="6492240" cy="2414016"/>
        </p:xfrm>
        <a:graphic>
          <a:graphicData uri="http://schemas.openxmlformats.org/drawingml/2006/table">
            <a:tbl>
              <a:tblPr firstRow="1" bandRow="1"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φ design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37.3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33.5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γe (kN/m³)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10.97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12.22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q = γ·Df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Terzaghi Nq / Nγ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56.3 / 72.6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34.1 / 36.0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Meyerhof Nq / Nγ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44.8 / 56.7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27.6 / 28.3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2" name="Table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2542"/>
              </p:ext>
            </p:extLst>
          </p:nvPr>
        </p:nvGraphicFramePr>
        <p:xfrm>
          <a:off x="411480" y="5623560"/>
          <a:ext cx="14356080" cy="2852928"/>
        </p:xfrm>
        <a:graphic>
          <a:graphicData uri="http://schemas.openxmlformats.org/drawingml/2006/table">
            <a:tbl>
              <a:tblPr firstRow="1" band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B'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L'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θ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WP-A FS Terzaghi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WP-A FS Meyerhof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WP-D FS Terzaghi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WP-D FS Meyerhof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SF req.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24.00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102.3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111.9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61.3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13.84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23.10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13.74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22.56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35.2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38.9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13.89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23.64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88.7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55.7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49.8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28.7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13.64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23.89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87.0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54.2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48.8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" name="Shape 133"/>
          <p:cNvSpPr/>
          <p:nvPr/>
        </p:nvSpPr>
        <p:spPr>
          <a:xfrm>
            <a:off x="8001000" y="3886200"/>
            <a:ext cx="6720840" cy="146304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combinations OK. Lowest FS = 12.9 (WPD, ASD2(max)).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Without liquefaction, bearing capacity is not the problem.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11480" y="8549640"/>
            <a:ext cx="142646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q' is the same for WPA and WPD (same loads). B' and L' follow the resultant offset. Capacity uses c = 0, so results are conservative for the crust.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B908-0602-FD17-45AB-7794C1B3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st-liquefaction mechanism, all static combinations" descr="Post-liquefaction mechanism, all static combinations">
            <a:extLst>
              <a:ext uri="{FF2B5EF4-FFF2-40B4-BE49-F238E27FC236}">
                <a16:creationId xmlns:a16="http://schemas.microsoft.com/office/drawing/2014/main" id="{239DF127-1DCA-FF1D-66F9-378525DA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06918"/>
            <a:ext cx="6720840" cy="38532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E42164-2A20-8B63-0601-D5E6F963C72B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2800" b="1" dirty="0">
                <a:solidFill>
                  <a:prstClr val="white"/>
                </a:solidFill>
              </a:rPr>
              <a:t>BEARING CAPACITY: </a:t>
            </a:r>
            <a:r>
              <a:rPr lang="en-US" altLang="en-GB" sz="2800" b="1" dirty="0">
                <a:solidFill>
                  <a:srgbClr val="FFFF00"/>
                </a:solidFill>
              </a:rPr>
              <a:t>LIQUEFACTION CONDITION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B91F72F1-BA7A-8380-A524-AAA24115D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F1038AB-B97F-D321-C915-D6FD7168FE73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6A6BC0-F5E7-14FB-9CBF-C4702EB565BB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E906B6-351D-9B3E-9C87-326DB1A0889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38D0F25-346F-C06C-A041-C4C2C496543D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8AE20209-76F5-D55F-E55F-B13B0919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Shape 129">
            <a:extLst>
              <a:ext uri="{FF2B5EF4-FFF2-40B4-BE49-F238E27FC236}">
                <a16:creationId xmlns:a16="http://schemas.microsoft.com/office/drawing/2014/main" id="{7722D919-C377-F5C2-2FA6-CB257DDC98EC}"/>
              </a:ext>
            </a:extLst>
          </p:cNvPr>
          <p:cNvSpPr/>
          <p:nvPr/>
        </p:nvSpPr>
        <p:spPr>
          <a:xfrm>
            <a:off x="365760" y="1188719"/>
            <a:ext cx="7315200" cy="586464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55577699-C0BB-E0AD-695B-D6835E9EF7A2}"/>
              </a:ext>
            </a:extLst>
          </p:cNvPr>
          <p:cNvSpPr txBox="1"/>
          <p:nvPr/>
        </p:nvSpPr>
        <p:spPr>
          <a:xfrm>
            <a:off x="548640" y="1280160"/>
            <a:ext cx="6949440" cy="5637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lvl="0">
              <a:spcAft>
                <a:spcPts val="400"/>
              </a:spcAft>
              <a:defRPr/>
            </a:pPr>
            <a:r>
              <a:rPr lang="en-US" sz="1600" b="1" dirty="0">
                <a:solidFill>
                  <a:srgbClr val="311927"/>
                </a:solidFill>
              </a:rPr>
              <a:t>Method: Two checks (static loads after shaking)</a:t>
            </a:r>
          </a:p>
          <a:p>
            <a:pPr marL="54864" lvl="0">
              <a:spcAft>
                <a:spcPts val="500"/>
              </a:spcAft>
              <a:defRPr/>
            </a:pPr>
            <a:r>
              <a:rPr lang="en-US" sz="1600" b="1" dirty="0">
                <a:solidFill>
                  <a:srgbClr val="262626"/>
                </a:solidFill>
              </a:rPr>
              <a:t>(a) 2:1 spread: </a:t>
            </a:r>
          </a:p>
          <a:p>
            <a:pPr marL="256032" indent="-201168">
              <a:spcAft>
                <a:spcPts val="500"/>
              </a:spcAft>
              <a:buFont typeface="Arial"/>
              <a:buChar char="•"/>
              <a:defRPr/>
            </a:pPr>
            <a:r>
              <a:rPr lang="en-US" sz="1600" dirty="0" err="1">
                <a:solidFill>
                  <a:srgbClr val="262626"/>
                </a:solidFill>
              </a:rPr>
              <a:t>Δσ</a:t>
            </a:r>
            <a:r>
              <a:rPr lang="en-US" sz="1600" dirty="0">
                <a:solidFill>
                  <a:srgbClr val="262626"/>
                </a:solidFill>
              </a:rPr>
              <a:t> = (V - </a:t>
            </a:r>
            <a:r>
              <a:rPr lang="en-US" sz="1600" dirty="0" err="1">
                <a:solidFill>
                  <a:srgbClr val="262626"/>
                </a:solidFill>
              </a:rPr>
              <a:t>γ·Df·A</a:t>
            </a:r>
            <a:r>
              <a:rPr lang="en-US" sz="1600" dirty="0">
                <a:solidFill>
                  <a:srgbClr val="262626"/>
                </a:solidFill>
              </a:rPr>
              <a:t>) / [(B'+H)(L'+H)]. </a:t>
            </a:r>
          </a:p>
          <a:p>
            <a:pPr marL="256032" indent="-201168">
              <a:spcAft>
                <a:spcPts val="500"/>
              </a:spcAft>
              <a:buFont typeface="Arial"/>
              <a:buChar char="•"/>
              <a:defRPr/>
            </a:pPr>
            <a:r>
              <a:rPr lang="en-US" sz="1600" dirty="0">
                <a:solidFill>
                  <a:srgbClr val="262626"/>
                </a:solidFill>
              </a:rPr>
              <a:t>Capacity = 5.14·Sr·(1 + 0.2B/L).</a:t>
            </a:r>
          </a:p>
          <a:p>
            <a:pPr marL="54864" lvl="0">
              <a:spcAft>
                <a:spcPts val="500"/>
              </a:spcAft>
              <a:defRPr/>
            </a:pPr>
            <a:r>
              <a:rPr lang="en-US" sz="1600" b="1" dirty="0">
                <a:solidFill>
                  <a:srgbClr val="262626"/>
                </a:solidFill>
              </a:rPr>
              <a:t>(b) Meyerhof &amp; Hanna: </a:t>
            </a:r>
          </a:p>
          <a:p>
            <a:pPr marL="256032" indent="-201168">
              <a:spcAft>
                <a:spcPts val="500"/>
              </a:spcAft>
              <a:buFont typeface="Arial"/>
              <a:buChar char="•"/>
              <a:defRPr/>
            </a:pPr>
            <a:r>
              <a:rPr lang="en-US" sz="1600" dirty="0" err="1">
                <a:solidFill>
                  <a:srgbClr val="262626"/>
                </a:solidFill>
              </a:rPr>
              <a:t>qu</a:t>
            </a:r>
            <a:r>
              <a:rPr lang="en-US" sz="1600" dirty="0">
                <a:solidFill>
                  <a:srgbClr val="262626"/>
                </a:solidFill>
              </a:rPr>
              <a:t> = (1 + 0.2B'/L')·5.14·Sr + γ1·H²·(1 + B'/L')(1 + 2Df/H)·Ks·tanφ1/B' + γ1·Df ≤ qt.</a:t>
            </a:r>
          </a:p>
          <a:p>
            <a:pPr marL="256032" indent="-201168">
              <a:spcAft>
                <a:spcPts val="500"/>
              </a:spcAft>
              <a:buFont typeface="Arial"/>
              <a:buChar char="•"/>
              <a:defRPr/>
            </a:pPr>
            <a:r>
              <a:rPr lang="en-US" sz="1600" b="1" dirty="0">
                <a:solidFill>
                  <a:srgbClr val="262626"/>
                </a:solidFill>
              </a:rPr>
              <a:t>Ks: </a:t>
            </a:r>
            <a:r>
              <a:rPr lang="en-US" sz="1600" dirty="0">
                <a:solidFill>
                  <a:srgbClr val="262626"/>
                </a:solidFill>
              </a:rPr>
              <a:t>1 - sin φ1 (lower bound). Last column: Ks needed for FS 1.1.</a:t>
            </a:r>
          </a:p>
          <a:p>
            <a:pPr marL="256032" indent="-201168">
              <a:spcAft>
                <a:spcPts val="500"/>
              </a:spcAft>
              <a:buFont typeface="Arial"/>
              <a:buChar char="•"/>
              <a:defRPr/>
            </a:pPr>
            <a:r>
              <a:rPr lang="en-US" sz="1600" b="1" dirty="0">
                <a:solidFill>
                  <a:srgbClr val="262626"/>
                </a:solidFill>
              </a:rPr>
              <a:t>Sr: </a:t>
            </a:r>
            <a:r>
              <a:rPr lang="en-US" sz="1600" dirty="0">
                <a:solidFill>
                  <a:srgbClr val="262626"/>
                </a:solidFill>
              </a:rPr>
              <a:t>lowest residual strength of the liquefied layers, I&amp;B (2007, 2008)</a:t>
            </a: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endParaRPr lang="en-US" sz="1600" b="1" dirty="0">
              <a:solidFill>
                <a:srgbClr val="262626"/>
              </a:solidFill>
            </a:endParaRPr>
          </a:p>
          <a:p>
            <a:pPr marL="54864" lvl="0">
              <a:spcAft>
                <a:spcPts val="500"/>
              </a:spcAft>
              <a:defRPr/>
            </a:pPr>
            <a:r>
              <a:rPr lang="en-US" sz="1600" b="1" dirty="0">
                <a:solidFill>
                  <a:srgbClr val="262626"/>
                </a:solidFill>
              </a:rPr>
              <a:t>Target: </a:t>
            </a:r>
            <a:r>
              <a:rPr lang="en-US" sz="1600" dirty="0">
                <a:solidFill>
                  <a:srgbClr val="262626"/>
                </a:solidFill>
              </a:rPr>
              <a:t>FS ≥ 1.1. Red title = NOT OK.</a:t>
            </a:r>
          </a:p>
        </p:txBody>
      </p:sp>
      <p:sp>
        <p:nvSpPr>
          <p:cNvPr id="133" name="Shape 133">
            <a:extLst>
              <a:ext uri="{FF2B5EF4-FFF2-40B4-BE49-F238E27FC236}">
                <a16:creationId xmlns:a16="http://schemas.microsoft.com/office/drawing/2014/main" id="{8D773273-BC0A-0F46-3756-8C141C2E93C9}"/>
              </a:ext>
            </a:extLst>
          </p:cNvPr>
          <p:cNvSpPr/>
          <p:nvPr/>
        </p:nvSpPr>
        <p:spPr>
          <a:xfrm>
            <a:off x="8001000" y="5328777"/>
            <a:ext cx="6720840" cy="1724582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There are several combinations </a:t>
            </a:r>
            <a:r>
              <a:rPr lang="en-US" sz="1700" b="1" dirty="0">
                <a:solidFill>
                  <a:srgbClr val="FF0000"/>
                </a:solidFill>
                <a:latin typeface="Calibri"/>
              </a:rPr>
              <a:t>NOT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OK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Lowest FS = </a:t>
            </a:r>
            <a:r>
              <a:rPr lang="en-US" sz="1700" b="1" dirty="0">
                <a:solidFill>
                  <a:srgbClr val="FFFFFF"/>
                </a:solidFill>
                <a:latin typeface="Calibri"/>
              </a:rPr>
              <a:t>0.55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(WPA, ASD2(max))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FF00"/>
                </a:solidFill>
                <a:latin typeface="Calibri"/>
              </a:rPr>
              <a:t>With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liquefaction, bearing capacity is the problem,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both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Wellpad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and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Wellpad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</a:t>
            </a:r>
          </a:p>
        </p:txBody>
      </p:sp>
      <p:graphicFrame>
        <p:nvGraphicFramePr>
          <p:cNvPr id="6" name="Table 156">
            <a:extLst>
              <a:ext uri="{FF2B5EF4-FFF2-40B4-BE49-F238E27FC236}">
                <a16:creationId xmlns:a16="http://schemas.microsoft.com/office/drawing/2014/main" id="{D0DA939F-3F73-D121-9F92-71146BE62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18431"/>
              </p:ext>
            </p:extLst>
          </p:nvPr>
        </p:nvGraphicFramePr>
        <p:xfrm>
          <a:off x="365760" y="7211175"/>
          <a:ext cx="11750042" cy="2368296"/>
        </p:xfrm>
        <a:graphic>
          <a:graphicData uri="http://schemas.openxmlformats.org/drawingml/2006/table">
            <a:tbl>
              <a:tblPr firstRow="1" bandRow="1"/>
              <a:tblGrid>
                <a:gridCol w="83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8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71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95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9509">
                  <a:extLst>
                    <a:ext uri="{9D8B030D-6E8A-4147-A177-3AD203B41FA5}">
                      <a16:colId xmlns:a16="http://schemas.microsoft.com/office/drawing/2014/main" val="1830791426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Wellpad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H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Sr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Δσ 2:1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5.14·Sr·sc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FS 2:1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qu M&amp;H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q'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FS M&amp;H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 rowSpan="3"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WP-A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4.52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000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0000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1.31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 rowSpan="3"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</a:rPr>
                        <a:t>WP-D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8.75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7.05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3.18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OK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8.75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0000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8.75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2.05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1.13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Sr of project layers" descr="Sr of project layers">
            <a:extLst>
              <a:ext uri="{FF2B5EF4-FFF2-40B4-BE49-F238E27FC236}">
                <a16:creationId xmlns:a16="http://schemas.microsoft.com/office/drawing/2014/main" id="{FF585AB6-B6FE-8D4B-9F75-D7BEB97B9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025" y="3806515"/>
            <a:ext cx="5350670" cy="229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27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3CD3-314B-F05E-9E3B-69DA7335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5031B-EDF5-830A-22C2-9A07E63855E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431131"/>
            <a:ext cx="15119350" cy="2260028"/>
          </a:xfrm>
        </p:spPr>
        <p:txBody>
          <a:bodyPr>
            <a:normAutofit/>
          </a:bodyPr>
          <a:lstStyle/>
          <a:p>
            <a:r>
              <a:rPr lang="en-US" sz="4800" b="1" dirty="0"/>
              <a:t>RIG FOUNDATION ANALYSIS</a:t>
            </a:r>
            <a:br>
              <a:rPr lang="en-US" sz="4800" b="1" dirty="0"/>
            </a:br>
            <a:r>
              <a:rPr lang="en-US" sz="4800" b="1" dirty="0"/>
              <a:t>PILE FOUNDATION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7E6AB-6A13-404E-DB1D-F305578D0549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44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6165-688F-6784-F4FA-13CB44DE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D0269-59D2-DD40-7E05-54C9F7267AC7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RIG FOUNDATION: ANALYSIS METHOD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56336E2A-6E99-2D23-F40B-3E6BABA68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8D778DF-7EC5-F0AB-9119-50BA01CC0B92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52DCC8-8B94-3733-076D-45DADA918A96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52AE6E-3483-C097-DA1D-6CB22A4503D7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ABE2C0-50F4-6051-85F2-54364B54E5AA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6375A40F-2314-AE99-ED3F-EC1C72D8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960120"/>
            <a:ext cx="14584680" cy="457200"/>
          </a:xfrm>
          <a:prstGeom prst="rect">
            <a:avLst/>
          </a:prstGeom>
          <a:solidFill>
            <a:srgbClr val="E8EFF7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Scope: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bored piles Ø1000 mm under a rigid pile cap for the drilling rig, at Wellpad A and Wellpad D (both with 2 cellars). Pile group analysed in Ensoft GROUP.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254" y="1524228"/>
            <a:ext cx="6949440" cy="3787191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Steps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1. Pile capacity: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allowable axial and pull-out capacity from SPT, before and after liquefaction. Shaft friction in the liquefied zone is set to about zero.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2. Loads: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support reactions of the MIDAS rig model, in ASD (bearing, settlement) and LRFD (pile strength) combinations. Cap self-weight added and factored.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3. Pile group model: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rigid cap on piles with p-y, t-z and q-z springs (beam on nonlinear Winkler foundation).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4. Liquefied case: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p-y springs scaled by p-multipliers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mp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from PEER 2011/04 (Table 4.1), static p-y, no group reduction in the liquefied layer.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5. Checks: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capacity ratio ≤ 1.0, settlement ≤ 25.4 mm (SNI 9247:2024), lateral deflection ≤ 25 mm, pile stress ≤ fc' 30 MPa. Layout: 4x1 piles per rig node.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694351"/>
              </p:ext>
            </p:extLst>
          </p:nvPr>
        </p:nvGraphicFramePr>
        <p:xfrm>
          <a:off x="274320" y="5752703"/>
          <a:ext cx="6949440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Wellpad A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Wellpad D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Pile cap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25 × 12 × 1.2 m (2 cellars)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25 × 12 × 1.2 m (2 cellars)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Piles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16 × Ø1000 mm, L = 43 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16 × Ø1000 mm, L = 48 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Design borehole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BH-02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BH-04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Water table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7.0 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9.0 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Liquefiable zone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7.5-21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10.5-19.5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Rig moment per node (ASD)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± 14,086 kNm</a:t>
                      </a:r>
                      <a:r>
                        <a:rPr lang="en-ID" sz="1100" b="0" dirty="0" err="1">
                          <a:solidFill>
                            <a:srgbClr val="000000"/>
                          </a:solidFill>
                          <a:latin typeface="Proxima Nova"/>
                        </a:rPr>
                        <a:t/>
                      </a:r>
                      <a:endParaRPr lang="en-ID" sz="1100" b="0" dirty="0">
                        <a:solidFill>
                          <a:srgbClr val="000000"/>
                        </a:solidFill>
                        <a:latin typeface="Proxima Nova"/>
                      </a:endParaRP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± 14,086 kNm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/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Proxima Nova"/>
                        </a:rPr>
                        <a:t/>
                      </a:r>
                      <a:endParaRPr sz="1100" b="0" dirty="0">
                        <a:solidFill>
                          <a:srgbClr val="000000"/>
                        </a:solidFill>
                        <a:latin typeface="Proxima Nova"/>
                      </a:endParaRP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406640" y="1600200"/>
            <a:ext cx="2377440" cy="1417320"/>
          </a:xfrm>
          <a:prstGeom prst="rect">
            <a:avLst/>
          </a:prstGeom>
          <a:solidFill>
            <a:srgbClr val="2E75B6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M1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NON-LIQUEFIED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Static ground conditions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Analysed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1600200"/>
            <a:ext cx="2377440" cy="1417320"/>
          </a:xfrm>
          <a:prstGeom prst="rect">
            <a:avLst/>
          </a:prstGeom>
          <a:solidFill>
            <a:srgbClr val="2E75B6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M3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LIQUEFIED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p-multipliers, zero shaft friction in the liquefied zone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Analysed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0" y="1600200"/>
            <a:ext cx="2377440" cy="1417320"/>
          </a:xfrm>
          <a:prstGeom prst="rect">
            <a:avLst/>
          </a:prstGeom>
          <a:solidFill>
            <a:srgbClr val="C00000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M4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LATERAL SPREADING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Free-field ground displacement and crust load on the cap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NOT YET ANALYSED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F29674-A292-3135-D7A7-08C8D368DCCD}"/>
              </a:ext>
            </a:extLst>
          </p:cNvPr>
          <p:cNvGrpSpPr/>
          <p:nvPr/>
        </p:nvGrpSpPr>
        <p:grpSpPr>
          <a:xfrm>
            <a:off x="7223760" y="3468062"/>
            <a:ext cx="4659086" cy="3904488"/>
            <a:chOff x="8142514" y="3154680"/>
            <a:chExt cx="4659086" cy="3904488"/>
          </a:xfrm>
        </p:grpSpPr>
        <p:pic>
          <p:nvPicPr>
            <p:cNvPr id="32" name="Picture 31" descr="peer_fig42.png"/>
            <p:cNvPicPr>
              <a:picLocks noChangeAspect="1"/>
            </p:cNvPicPr>
            <p:nvPr/>
          </p:nvPicPr>
          <p:blipFill>
            <a:blip r:embed="rId3"/>
            <a:srcRect l="17495" r="17978"/>
            <a:stretch>
              <a:fillRect/>
            </a:stretch>
          </p:blipFill>
          <p:spPr>
            <a:xfrm>
              <a:off x="8142514" y="3154680"/>
              <a:ext cx="4487138" cy="334772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595360" y="6647688"/>
              <a:ext cx="4206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"/>
                  <a:ea typeface="+mn-ea"/>
                  <a:cs typeface="+mn-cs"/>
                </a:rPr>
                <a:t>(a) Published p-multipliers for liquefied sand (PEER 2011/04, Fig. 4.2).</a:t>
              </a:r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103368"/>
              </p:ext>
            </p:extLst>
          </p:nvPr>
        </p:nvGraphicFramePr>
        <p:xfrm>
          <a:off x="11781790" y="4537909"/>
          <a:ext cx="306324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(N1)60cs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mp, PEER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mp used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&lt;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0.0-0.1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8-16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0.05-0.2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0.125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16-24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0.1-0.3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oxima Nova"/>
                        </a:rPr>
                        <a:t>&gt; 24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oxima Nova"/>
                        </a:rPr>
                        <a:t>0.2-0.5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Proxima Nova"/>
                        </a:rPr>
                        <a:t>0.35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781790" y="6229549"/>
            <a:ext cx="3063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(b)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mp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from PEER Table 4.1; mid-range adopted,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1" y="8436816"/>
            <a:ext cx="14584679" cy="778675"/>
          </a:xfrm>
          <a:prstGeom prst="rect">
            <a:avLst/>
          </a:prstGeom>
          <a:solidFill>
            <a:srgbClr val="FDE2E2"/>
          </a:solidFill>
          <a:ln w="25400">
            <a:solidFill>
              <a:srgbClr val="C00000"/>
            </a:solidFill>
          </a:ln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NOTICE: LATERAL SPREADING NOT YET REVIEWED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The results cover model M1 (non-liquefied) and M3 (liquefied) only. Model M4 (lateral spreading) has not been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analysed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yet.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The foundation design is not final until M4 is checked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(PEER 2011/04)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932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2E2579-3974-007B-EA73-32D0438607CE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 COMBINATIONS –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CELLARS</a:t>
            </a: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851012FE-33BF-4FBE-71D6-D94CB090B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44E4997-868C-E756-78F7-4174A96F0DEC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419AD4-47B5-AD47-2DA2-554DFEC80853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 ENGINEERING DESIGN 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</a:t>
              </a: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PSPE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 AREA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DD23E-BB92-AE3D-D5FA-21F4428540F9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8CD5C4-D3C6-EAF6-E045-BB792A64861B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6102599-CEBD-BE11-11DD-31D38D6C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0040" y="1234440"/>
          <a:ext cx="14493237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3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3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FZ per node (kN)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Max |MY| per node (kNm)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1.0D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1,618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Bearing capacity &amp; settlement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ASD2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1.0D + 1.0RIG (max/min envelope)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7,680 / 805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14,086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Bearing capacity &amp; settlement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ASD3/4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1.118D + 0.7E (nominal)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1,812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1,259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Bearing capacity, nominal earthquake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LRFD1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1.4D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2,266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1,404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Pile strength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LRFD2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1.2D + 1.6RIG (max/min envelope)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11,640 / 640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22,136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Pile strength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LRFD3/4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1.369D + 1.0E (strong)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2,217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1,569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Strength, strong earthquake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20040" y="5486400"/>
            <a:ext cx="1449324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Loads from MIDAS support reactions of the 2-cellar rig model, converted to GROUP axes; the same rig loads are used for Wellpad A and Wellpad D.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Rig moments at the two cellars act with different magnitudes and are resisted jointly by the combined cap (node lever arm ±6 m).</a:t>
            </a:r>
          </a:p>
          <a:p>
            <a:pPr marL="256032" marR="0" lvl="0" indent="-20116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vertical load on the pile group incl. cap self-weight: 46,673 kN (ASD1) to 70,918 kN (ASD2 max); static p-y for M1 gravity cases and all M3 cases, cyclic p-y for M1 seismic cases.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PILE CAPACITY – WELLPAD A: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Ø1000 mm, BH-02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Capacity chart" descr="cap_W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13" y="1143000"/>
            <a:ext cx="8612372" cy="7406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80" y="8522208"/>
            <a:ext cx="8778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Figure. N-SPT (BH-02 and BH-05, shaded = liquefiable) and allowable axial capacity per pile vs depth; dashed lines = design loads from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1430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Capacity at L = 43 m (tip 44 m), both boreholes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418320" y="1554480"/>
          <a:ext cx="5166360" cy="1920240"/>
        </p:xfrm>
        <a:graphic>
          <a:graphicData uri="http://schemas.openxmlformats.org/drawingml/2006/table">
            <a:tbl>
              <a:tblPr firstRow="0" bandRow="0"/>
              <a:tblGrid>
                <a:gridCol w="1783080"/>
                <a:gridCol w="731520"/>
                <a:gridCol w="777240"/>
                <a:gridCol w="548640"/>
                <a:gridCol w="777240"/>
                <a:gridCol w="548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Load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Qa BH-02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Qa BH-05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Static (SF 2.5 / 3.0)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5,054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5,628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6,321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Liquefied (SF 1.56)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4,293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6,067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8,719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Downdrag (SF 1.56)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3,108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7,186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Tension (SF 3.0)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3,653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4,057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9418320" y="379476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858768"/>
            <a:ext cx="5029200" cy="47091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Basis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Two boreholes in this wellpad: BH-02 and BH-05. Same pile length and loads checked for both.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Static: Qa = Qs/2.5 + Qb/3 − W'p; qb = 57.5·N ≤ 2,870 kPa; no friction over the bottom 1D.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Liquefied: no friction above the liquefiable base; SF 1.56.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Downdrag: Qa = R/1.56 − W'p − DD; DD = 2,959 kN (BH-02) and 1,533 kN (BH-05).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Loads: max. pile axial from GROUP (ASD2 max M1, LRFD3 M3, ASD1).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11927"/>
                </a:solidFill>
                <a:latin typeface="Calibri"/>
              </a:rPr>
              <a:t>BH-02 gives the lower capacity in every case, so it is the critical borehole and is used for design (GWL 7.0 m, liquefiable 7.5–21.0 m). All checks OK at L = 43 m.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 RESULTS – WELLPAD A: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PILE REACTIONS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1143000"/>
          <a:ext cx="9692640" cy="5285232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1234440"/>
                <a:gridCol w="1143000"/>
                <a:gridCol w="1097280"/>
                <a:gridCol w="1097280"/>
                <a:gridCol w="1051560"/>
                <a:gridCol w="1234440"/>
                <a:gridCol w="114300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Load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Vert. load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axial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Min axial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shear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moment (kNm)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Settlement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Head defl.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46,673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70,918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5,054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3,811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43,420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3,282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2,024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53,301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3,593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3,070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530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53,301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3,561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3,102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65,343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94,800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6,880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4,924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50,802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4,127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2,063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65,421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4,471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783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65,421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4,424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46,673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52,596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3,456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3,078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358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52,596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3,440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3,116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65,343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64,415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4,293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64,415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3,792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11480" y="6455664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M1 = non-liquefied, M3 = liquefied (p-multipliers, no friction in liquefied zone). 16 piles Ø1000 mm, 4x1 under each rig node.</a:t>
            </a:r>
          </a:p>
        </p:txBody>
      </p:sp>
      <p:pic>
        <p:nvPicPr>
          <p:cNvPr id="28" name="Cap plan" descr="cap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219479"/>
            <a:ext cx="4343400" cy="277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378440" y="4087368"/>
            <a:ext cx="4343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Pile cap 25 × 12 × 1.2 m, rig load nodes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378440" y="4572000"/>
          <a:ext cx="4343399" cy="1389888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868680"/>
                <a:gridCol w="960120"/>
                <a:gridCol w="6400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Demand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Capacity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Static, ASD2 max (M1)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5,054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5,628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Liquefied, M3 max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4,293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6,067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Downdrag, 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3,108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1148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0.94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capacity ratio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6.2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pile-group settlement (ASD)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924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2.4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lateral head deflection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Piles in tension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78440" y="6172200"/>
            <a:ext cx="4343400" cy="246888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All checks OK at L = 43 m.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No tension in any pile (min. axial 2,024 kN). Settlement and deflection far below 25.4 mm (SNI 9247:2024) and 25 mm. Lateral spreading (M4) not yet analysed.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PILE CAPACITY – WELLPAD D: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Ø1000 mm, BH-04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Capacity chart" descr="cap_W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13" y="1143000"/>
            <a:ext cx="8612372" cy="7406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80" y="8522208"/>
            <a:ext cx="8778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Figure. N-SPT (BH-04 and BH-01, shaded = liquefiable) and allowable axial capacity per pile vs depth; dashed lines = design loads from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1430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Capacity at L = 48 m (tip 49 m), both boreholes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418320" y="1554480"/>
          <a:ext cx="5166360" cy="1920240"/>
        </p:xfrm>
        <a:graphic>
          <a:graphicData uri="http://schemas.openxmlformats.org/drawingml/2006/table">
            <a:tbl>
              <a:tblPr firstRow="0" bandRow="0"/>
              <a:tblGrid>
                <a:gridCol w="1783080"/>
                <a:gridCol w="731520"/>
                <a:gridCol w="777240"/>
                <a:gridCol w="548640"/>
                <a:gridCol w="777240"/>
                <a:gridCol w="548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Load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Qa BH-04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Qa BH-01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Static (SF 2.5 / 3.0)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5,057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5,359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5,463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Liquefied (SF 1.56)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4,333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6,757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7,352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Downdrag (SF 1.56)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3,901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4,575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Tension (SF 3.0)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3,807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3,868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9418320" y="379476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858768"/>
            <a:ext cx="5029200" cy="47091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Basis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Two boreholes in this wellpad: BH-04 and BH-01. Same pile length and loads checked for both.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Static: Qa = Qs/2.5 + Qb/3 − W'p; qb = 57.5·N ≤ 2,870 kPa; no friction over the bottom 1D.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Liquefied: no friction above the liquefiable base; SF 1.56.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Downdrag: Qa = R/1.56 − W'p − DD; DD = 2,856 kN (BH-04) and 2,778 kN (BH-01).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Loads: max. pile axial from GROUP (ASD2 max M1, LRFD3 M3, ASD1).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11927"/>
                </a:solidFill>
                <a:latin typeface="Calibri"/>
              </a:rPr>
              <a:t>BH-04 gives the lower capacity in every case, so it is the critical borehole and is used for design (GWL 9.0 m, liquefiable 10.5–19.5 m). All checks OK at L = 48 m.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 RESULTS – WELLPAD D: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PILE REACTIONS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1143000"/>
          <a:ext cx="9692640" cy="5285232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1234440"/>
                <a:gridCol w="1143000"/>
                <a:gridCol w="1097280"/>
                <a:gridCol w="1097280"/>
                <a:gridCol w="1051560"/>
                <a:gridCol w="1234440"/>
                <a:gridCol w="114300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Load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Vert. load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axial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Min axial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shear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moment (kNm)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Settlement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Head defl.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46,673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70,918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5,057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3,808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43,420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3,341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2,087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53,301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3,632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3,031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53,301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3,595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3,067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65,343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LRFD2(max)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94,800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6,840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4,829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LRFD2(min)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50,802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4,118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2,153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65,421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4,518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3,621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957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65,421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4,466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3,690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951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46,673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52,596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3,501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3,074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ASD4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52,596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3,475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3,100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442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65,343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4,084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64,415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4,333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3,719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LRFD4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64,415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4,295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3,757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636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i="0">
                          <a:solidFill>
                            <a:srgbClr val="262626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11480" y="6455664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M1 = non-liquefied, M3 = liquefied (p-multipliers, no friction in liquefied zone). 16 piles Ø1000 mm, 4x1 under each rig node.</a:t>
            </a:r>
          </a:p>
        </p:txBody>
      </p:sp>
      <p:pic>
        <p:nvPicPr>
          <p:cNvPr id="28" name="Cap plan" descr="cap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219479"/>
            <a:ext cx="4343400" cy="277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378440" y="4087368"/>
            <a:ext cx="4343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Pile cap 25 × 12 × 1.2 m, rig load nodes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378440" y="4572000"/>
          <a:ext cx="4343399" cy="1389888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868680"/>
                <a:gridCol w="960120"/>
                <a:gridCol w="6400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Demand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Capacity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Static, ASD2 max (M1)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5,057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5,359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Liquefied, M3 max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4,333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6,757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Downdrag, 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2,917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3,901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00B050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1148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0.94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capacity ratio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5.2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pile-group settlement (ASD)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924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4.0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Max lateral head deflection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7315200"/>
            <a:ext cx="2286000" cy="132588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74066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311927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8092440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Piles in tension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78440" y="6172200"/>
            <a:ext cx="4343400" cy="246888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All checks OK at L = 48 m.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No tension in any pile (min. axial 2,087 kN). Settlement and deflection far below 25.4 mm (SNI 9247:2024) and 25 mm. Lateral spreading (M4) not yet analysed.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MIDAS GTS NX: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PARAMETERS AND LOADS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" y="114300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11927"/>
                </a:solidFill>
                <a:latin typeface="Calibri"/>
              </a:rPr>
              <a:t>Wellpad A (BH-02), GWL 7.0 m – Hardening Soil small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1527048"/>
          <a:ext cx="7040880" cy="2414016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914400"/>
                <a:gridCol w="2240280"/>
                <a:gridCol w="411480"/>
                <a:gridCol w="777240"/>
                <a:gridCol w="594360"/>
                <a:gridCol w="594360"/>
                <a:gridCol w="96012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γ (kN/m³)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E50ref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0–7.5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dense–very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41.0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60,000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7.5–12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medium dense (liq.)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33,994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12–15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very stiff–hard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35,275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15–28.5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medium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32,908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28.5–48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dense–very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34.3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38,877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48–54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medium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28,927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54–60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dense–very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35,562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680960" y="114300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11927"/>
                </a:solidFill>
                <a:latin typeface="Calibri"/>
              </a:rPr>
              <a:t>Wellpad D (BH-04, BH-01 below 25 m), GWL 9.0 m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680960" y="1527048"/>
          <a:ext cx="7040880" cy="2715768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914400"/>
                <a:gridCol w="2240280"/>
                <a:gridCol w="411480"/>
                <a:gridCol w="777240"/>
                <a:gridCol w="594360"/>
                <a:gridCol w="594360"/>
                <a:gridCol w="96012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γ (kN/m³)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E50ref (kPa)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0–3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Silty clay, firm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17,432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3–7.5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51,946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7.5–10.5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stiff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13,090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10.5–19.5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very stiff (+sand)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15,860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19.5–24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hard (+sand)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27,521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24–28.5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very stiff (+sand)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17.8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13,803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28.5–49.5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Clay, hard (+sand)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17.8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24,921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49.5–60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Sand, medium dense–dense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17.8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i="0">
                          <a:solidFill>
                            <a:srgbClr val="262626"/>
                          </a:solidFill>
                          <a:latin typeface="Calibri"/>
                        </a:rPr>
                        <a:t>29,093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11480" y="4297680"/>
            <a:ext cx="14264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Eurref = 3·E50ref; Eoedref = E50ref (sand) ; m = 0.5 (sand), 0.8 (clay); ν = 0.2. Sand: Dr from (N1)60 (Skempton 1986), φ' Wolff (1989), E50ref = 60,000·Dr (Brinkgreve et al. 2010). Clay: su = 5N, E50 = 1000N.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75488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11927"/>
                </a:solidFill>
                <a:latin typeface="Calibri"/>
              </a:rPr>
              <a:t>Rig loads per node (Midas support reactions, ASD)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11480" y="5138928"/>
          <a:ext cx="7040880" cy="164592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2377440"/>
                <a:gridCol w="146304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FZ per node (kN)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Max |MY| per node (kNm)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ASD1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1.0D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1,618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1,003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ASD2 (max)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1.0D + 1.0RIG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7,680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14,086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ASD2 (min)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1.0D + 1.0RIG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805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14,086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ASD3/4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1.118D + 0.7E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1,812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i="0">
                          <a:solidFill>
                            <a:srgbClr val="262626"/>
                          </a:solidFill>
                          <a:latin typeface="Calibri"/>
                        </a:rPr>
                        <a:t>1,259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11480" y="6812280"/>
            <a:ext cx="7040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Loads applied at nodes 3226, 3233, 3234 and 3241 on the 25 × 12 × 1.2 m cap (2 cellars).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754880"/>
            <a:ext cx="7040880" cy="38862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4818888"/>
            <a:ext cx="6766560" cy="3749039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Model set-up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Cap as shell elements; piles as beam elements with pile interface springs.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Pile length L = 43 m (Wellpad A) and 48 m (Wellpad D); 16 piles Ø1000 mm.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Interface: kt = Gi/(tv·L), kn = Eoed,i/(tv·L), R = 0.67, tv = 0.1; ultimate shaft and tip values from the single-pile capacity.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Soil: Hardening Soil small (HSs), merged layers of the design borehole.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Static, non-liquefied condition (service settlement).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 SETTLEMENT WELLPAD A –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MIDAS GTS NX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idas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35" y="1216152"/>
            <a:ext cx="2096609" cy="33741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4681727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(a) 3D model: cap, piles and rig loads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114300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idas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1586733"/>
            <a:ext cx="4471416" cy="26329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57800" y="4681727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(b) Mesh section with piles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07492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idas_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5401706"/>
            <a:ext cx="4471416" cy="28668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8613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(c) Total displacement of the cap (m)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507492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idas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449" y="5148072"/>
            <a:ext cx="3056420" cy="33741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57800" y="8613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(d) Total displacement of the piles (m)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1430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Settlement summary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241280" y="1554480"/>
          <a:ext cx="4480560" cy="1536192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09728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Max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Pile cap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37.9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Piles (head)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27.0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37.8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Differential over cap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10241280" y="3246120"/>
            <a:ext cx="4480560" cy="27432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78440" y="3310128"/>
            <a:ext cx="4206240" cy="2651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What it shows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Maximum settlement 38 mm under the heaviest rig nodes.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Differential settlement over the cap 12.6 mm vs 25.4 mm limit (SNI 9247:2024): OK.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Piles and cap move together (rigid cap behaviour).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6217920"/>
            <a:ext cx="4480560" cy="242316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Total 38 mm, differential 13 mm.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Includes the soil settlement under the full platform load; static, non-liquefied case.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FB97-75D1-BB83-8F23-DB56AA6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7325B-8103-5E0E-779D-F3409FB9A7EA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 SETTLEMENT WELLPAD D – </a:t>
            </a: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MIDAS GTS NX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4A2F4D2A-2F1F-9170-4872-ECFB8D4E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8A69CB-B486-8057-74F4-1E8A8D6E73E7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D348D-BE3A-4DBF-3AA0-AD1E0BEB18B2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8A607F-6FEC-9D6E-745C-86353055A420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9DFF63-86DF-F735-0A41-032D81B48743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8EFF995-CB93-CAB3-5224-57624C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114300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idas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35" y="1216152"/>
            <a:ext cx="2096609" cy="33741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4681727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(a) 3D model: cap, piles and rig loads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114300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idas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1605865"/>
            <a:ext cx="4471416" cy="25947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57800" y="4681727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(b) Mesh section with piles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07492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idas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5465032"/>
            <a:ext cx="4471416" cy="27402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8613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(c) Total displacement of the cap (m)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5074920"/>
            <a:ext cx="46177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idas_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577" y="5148072"/>
            <a:ext cx="2988164" cy="33741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57800" y="8613648"/>
            <a:ext cx="4617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(d) Total displacement of the piles (m)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1430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Settlement summary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241280" y="1554480"/>
          <a:ext cx="4480560" cy="1536192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09728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Max (mm)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Pile cap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48.5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69.8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Piles (head)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50.9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68.5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Differential over cap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i="0">
                          <a:solidFill>
                            <a:srgbClr val="262626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10241280" y="3246120"/>
            <a:ext cx="4480560" cy="2743200"/>
          </a:xfrm>
          <a:prstGeom prst="roundRect">
            <a:avLst>
              <a:gd name="adj" fmla="val 5000"/>
            </a:avLst>
          </a:prstGeom>
          <a:solidFill>
            <a:srgbClr val="F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78440" y="3310128"/>
            <a:ext cx="4206240" cy="26517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11927"/>
                </a:solidFill>
                <a:latin typeface="Calibri"/>
              </a:rPr>
              <a:t>What it shows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Maximum settlement 70 mm under the heaviest rig nodes.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Differential settlement over the cap 21.3 mm vs 25.4 mm limit (SNI 9247:2024): OK.</a:t>
            </a:r>
          </a:p>
          <a:p>
            <a:pPr algn="l" marL="256032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Piles and cap move together (rigid cap behaviour).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6217920"/>
            <a:ext cx="4480560" cy="2423160"/>
          </a:xfrm>
          <a:prstGeom prst="roundRect">
            <a:avLst>
              <a:gd name="adj" fmla="val 8000"/>
            </a:avLst>
          </a:prstGeom>
          <a:solidFill>
            <a:srgbClr val="31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Total 70 mm, differential 21 mm.</a:t>
            </a:r>
          </a:p>
          <a:p>
            <a:pPr algn="ctr"/>
            <a:r>
              <a:rPr sz="1400" b="0" i="0">
                <a:solidFill>
                  <a:srgbClr val="FFFF00"/>
                </a:solidFill>
                <a:latin typeface="Calibri"/>
              </a:rPr>
              <a:t>Includes the soil settlement under the full platform load; static, non-liquefied case.</a:t>
            </a:r>
          </a:p>
        </p:txBody>
      </p:sp>
    </p:spTree>
    <p:extLst>
      <p:ext uri="{BB962C8B-B14F-4D97-AF65-F5344CB8AC3E}">
        <p14:creationId xmlns:p14="http://schemas.microsoft.com/office/powerpoint/2010/main" val="3314572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BD1C-BFF0-0E3C-9922-72384336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4E9F-B4A0-C72D-FC19-0CA004ACEDA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431131"/>
            <a:ext cx="15119350" cy="2260028"/>
          </a:xfrm>
        </p:spPr>
        <p:txBody>
          <a:bodyPr>
            <a:normAutofit/>
          </a:bodyPr>
          <a:lstStyle/>
          <a:p>
            <a:r>
              <a:rPr lang="en-US" sz="4800" b="1" dirty="0"/>
              <a:t>SOIL IMPROVEMENT </a:t>
            </a:r>
            <a:br>
              <a:rPr lang="en-US" sz="4800" b="1" dirty="0"/>
            </a:br>
            <a:r>
              <a:rPr lang="en-US" sz="4800" b="1" dirty="0"/>
              <a:t>RECOMMENDATION</a:t>
            </a:r>
            <a:endParaRPr lang="en-US" sz="496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01BE2A-5F72-A342-30E8-DFCC899D2C3C}"/>
              </a:ext>
            </a:extLst>
          </p:cNvPr>
          <p:cNvSpPr/>
          <p:nvPr/>
        </p:nvSpPr>
        <p:spPr>
          <a:xfrm>
            <a:off x="0" y="4778930"/>
            <a:ext cx="15119350" cy="1889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375A441-3B01-BDD9-A574-9FFE0A5B7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90824" y="5347568"/>
            <a:ext cx="6322542" cy="417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6B44-4A1F-5531-4A5E-21D868F7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70A300-9B94-4C28-4FD1-3759ED668213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IMPROVEMENT ALTERNATIVE: SCREENING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04392539-172A-5775-B40A-1203B7404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4714FDA-577A-9348-8DD7-6E02364D7570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16B546-F788-DD6B-DB10-B121494859F9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334845-E30A-7C53-8CDA-EA2F36CA0A54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F20DF0F-882D-1172-0CD2-B3B6F3A69589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6E5EB1F4-8E34-0BF8-2B44-D8472705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960120"/>
            <a:ext cx="14584680" cy="832536"/>
          </a:xfrm>
          <a:prstGeom prst="rect">
            <a:avLst/>
          </a:prstGeom>
          <a:solidFill>
            <a:srgbClr val="E8EFF7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Three checks per method: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(1) Fits the soil grain size (SNI chart)?   (2) Reaches 7.5–20 m?   (3) Gives FS ≥ 1.25 and limits spreading?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A65E77-B6B3-06D3-56E9-5DF5664A269D}"/>
              </a:ext>
            </a:extLst>
          </p:cNvPr>
          <p:cNvGrpSpPr/>
          <p:nvPr/>
        </p:nvGrpSpPr>
        <p:grpSpPr>
          <a:xfrm>
            <a:off x="274320" y="1980117"/>
            <a:ext cx="8778240" cy="6065642"/>
            <a:chOff x="274320" y="1645920"/>
            <a:chExt cx="8778240" cy="6065642"/>
          </a:xfrm>
        </p:grpSpPr>
        <p:pic>
          <p:nvPicPr>
            <p:cNvPr id="27" name="Picture 26" descr="sni_overlay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320" y="1645920"/>
              <a:ext cx="8778240" cy="576600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274320" y="7457646"/>
              <a:ext cx="8778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"/>
                  <a:ea typeface="+mn-ea"/>
                  <a:cs typeface="+mn-cs"/>
                </a:rPr>
                <a:t>(a) Ground improvement methods by grain size (SNI), with the site D50 range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9281160" y="1980117"/>
            <a:ext cx="5577840" cy="2240613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Site conditions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Two soil groups: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clean sand, FC &lt; 10% (Well Pad A, Log Yard, BH-05); silty sand, FC 23–55% (Well Pad D)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Depth: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GWL 7–9 m; liquefiable 7.5–20 m (22.5 m at BH-02) → treat through the crust to 20–23 m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Target FS ≥ 1.25: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needs (N1)60cs 31–33; now 12–29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Lateral spreading: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3.3–6.0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190" y="4444927"/>
            <a:ext cx="5577840" cy="3533275"/>
          </a:xfrm>
          <a:prstGeom prst="rect">
            <a:avLst/>
          </a:prstGeom>
          <a:solidFill>
            <a:srgbClr val="E8EFF7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Other standards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EN 1998-5: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compact or drain; piles alone only with caution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FHWA (2017):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vibro-compaction only in clean sand (fines &lt; 10–15%)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PHRI (1997):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treat beyond the footprint; DSM worked in Kobe 1995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NZGS/MBIE (2021):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set settlement and spreading limits; test before and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335" y="8301312"/>
            <a:ext cx="14584680" cy="924869"/>
          </a:xfrm>
          <a:prstGeom prst="rect">
            <a:avLst/>
          </a:prstGeom>
          <a:solidFill>
            <a:srgbClr val="FFEB9C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Key point: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Raising (N1)60cs to 31–33 is hard, mainly in silty sand.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DSM, jet grouting or piles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are more reliable for critical items.</a:t>
            </a:r>
          </a:p>
        </p:txBody>
      </p:sp>
    </p:spTree>
    <p:extLst>
      <p:ext uri="{BB962C8B-B14F-4D97-AF65-F5344CB8AC3E}">
        <p14:creationId xmlns:p14="http://schemas.microsoft.com/office/powerpoint/2010/main" val="1149430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6BF47-31A5-10D1-3943-787BA87E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17DFEF-7039-18D7-D8D5-56024AE834CB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IMPROVEMENT ALTERNATIVE: HOW EACH METHOD WORKS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3A29B856-A48C-4861-2BCB-5F122D674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C8D9153-1D01-6FE2-CACF-8900EC32711D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D95644-049C-30FD-A35F-379AAD161014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B1886C-EFCF-1090-FB8C-5EE8DDABC222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01F3D47-69F9-5678-3796-C5F95CFF8C90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D6FFA569-8048-35CF-4936-6F0A10BF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Picture 25" descr="improvement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14584680" cy="47830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74320" y="5852916"/>
            <a:ext cx="3520440" cy="3656843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Vibrating probe forms gravel columns: densify, drain, reinforce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At this site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Reaches 20–25 m. Good in clean sand; weak in silty sand (Well Pad D). Needs a field trial.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5852916"/>
            <a:ext cx="3520440" cy="3656843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Concrete columns + gravel platform carry the load to dense soil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At this site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Controls settlement, but the sand still liquefies. Columns can break under 3–6 m spreading. Not a stand-alone fix.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5852916"/>
            <a:ext cx="3520440" cy="3656843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Cement mixed in place → one stiff block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At this site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Only 5–7 m deep: dry crust only. Liquefiable layers (7.5–20 m) stay untreated. Platform 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9416" y="5852916"/>
            <a:ext cx="3520440" cy="3656843"/>
          </a:xfrm>
          <a:prstGeom prst="rect">
            <a:avLst/>
          </a:prstGeom>
          <a:solidFill>
            <a:srgbClr val="F2F2F2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Overlapping cement-soil walls in a grid: box in the sand, limit strain, resist spreading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At this site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Both soil groups, 20–30 m. Most reliable, but costly. Best for the rig and sensitive equipment.</a:t>
            </a:r>
          </a:p>
        </p:txBody>
      </p:sp>
    </p:spTree>
    <p:extLst>
      <p:ext uri="{BB962C8B-B14F-4D97-AF65-F5344CB8AC3E}">
        <p14:creationId xmlns:p14="http://schemas.microsoft.com/office/powerpoint/2010/main" val="171955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DA7C-7261-05AB-ACB0-DF1A1D3E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4A2E63-904C-80E4-90FB-D8CEDA37C0B5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IMPROVEMENT ALTERNATIVE: </a:t>
            </a:r>
            <a:r>
              <a:rPr lang="en-US" altLang="en-GB" sz="2800" b="1" dirty="0">
                <a:solidFill>
                  <a:prstClr val="white"/>
                </a:solidFill>
                <a:latin typeface="Calibri"/>
              </a:rPr>
              <a:t>LAYOUT AREA IMPROVEMENT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B68DEA7E-86F4-CF35-E95A-EA3293110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9302720-6592-47F4-2D08-A39499EC7431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992830-2E0F-6A4B-A600-8D16AF315D6F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214033-A966-CAB7-52BE-61BD3C090E91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36B060-A493-3A68-4F1E-999C8F661ADF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86D7CF80-D301-0F68-6DE7-6882AAF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5EC6E-B0D0-A6BF-2D09-1AEC34E11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" y="1156355"/>
            <a:ext cx="14149689" cy="84615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F0C282-5629-BA33-AD2B-8BAEAB62C53E}"/>
              </a:ext>
            </a:extLst>
          </p:cNvPr>
          <p:cNvSpPr/>
          <p:nvPr/>
        </p:nvSpPr>
        <p:spPr>
          <a:xfrm>
            <a:off x="836023" y="4013373"/>
            <a:ext cx="1593668" cy="692497"/>
          </a:xfrm>
          <a:prstGeom prst="rect">
            <a:avLst/>
          </a:prstGeom>
          <a:solidFill>
            <a:srgbClr val="8AAFC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5D3A7-99E5-500A-1BC7-A4F10704BA6C}"/>
              </a:ext>
            </a:extLst>
          </p:cNvPr>
          <p:cNvSpPr txBox="1"/>
          <p:nvPr/>
        </p:nvSpPr>
        <p:spPr>
          <a:xfrm>
            <a:off x="724262" y="4013372"/>
            <a:ext cx="181718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000000"/>
                </a:solidFill>
                <a:latin typeface="Proxima Nova"/>
              </a:rPr>
              <a:t>Recommendation P</a:t>
            </a:r>
            <a:r>
              <a:rPr lang="en-ID" sz="1300" b="1" dirty="0">
                <a:solidFill>
                  <a:srgbClr val="000000"/>
                </a:solidFill>
                <a:latin typeface="Proxima Nova"/>
              </a:rPr>
              <a:t>lan Area Improvement</a:t>
            </a:r>
            <a:endParaRPr kumimoji="0" lang="en-ID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734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66C8-8DC4-63CD-9172-ACE57A8E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D5EEB-6559-0AD5-246D-EF0053D3216B}"/>
              </a:ext>
            </a:extLst>
          </p:cNvPr>
          <p:cNvSpPr txBox="1"/>
          <p:nvPr/>
        </p:nvSpPr>
        <p:spPr>
          <a:xfrm>
            <a:off x="238254" y="339600"/>
            <a:ext cx="14407643" cy="523220"/>
          </a:xfrm>
          <a:prstGeom prst="rect">
            <a:avLst/>
          </a:prstGeom>
          <a:solidFill>
            <a:srgbClr val="311927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PROS AND CONS OF EACH ALTERNATIVE</a:t>
            </a:r>
            <a:endParaRPr kumimoji="0" lang="en-US" altLang="en-GB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Content Placeholder 1">
            <a:extLst>
              <a:ext uri="{FF2B5EF4-FFF2-40B4-BE49-F238E27FC236}">
                <a16:creationId xmlns:a16="http://schemas.microsoft.com/office/drawing/2014/main" id="{D89B57DE-5B14-FBAB-C65C-0494C4FF2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89465"/>
            <a:ext cx="2205990" cy="10020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4E6106-81BE-092F-4AFC-63F226AC86E9}"/>
              </a:ext>
            </a:extLst>
          </p:cNvPr>
          <p:cNvGrpSpPr/>
          <p:nvPr/>
        </p:nvGrpSpPr>
        <p:grpSpPr>
          <a:xfrm>
            <a:off x="0" y="9737286"/>
            <a:ext cx="15119350" cy="1002151"/>
            <a:chOff x="0" y="9689660"/>
            <a:chExt cx="15119350" cy="1002151"/>
          </a:xfrm>
          <a:solidFill>
            <a:srgbClr val="45313E"/>
          </a:solidFill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CA11EA3-4160-AC6C-8A80-D850E9976AB1}"/>
                </a:ext>
              </a:extLst>
            </p:cNvPr>
            <p:cNvSpPr txBox="1"/>
            <p:nvPr/>
          </p:nvSpPr>
          <p:spPr>
            <a:xfrm>
              <a:off x="6016032" y="9983197"/>
              <a:ext cx="82540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GEOTECHNICAL INVESTIGATION &amp; DETAILED ENGINEERING DESIGN</a:t>
              </a: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oxima Nova Lt" panose="02000506030000020004" pitchFamily="50" charset="0"/>
                  <a:ea typeface="+mn-ea"/>
                  <a:cs typeface="+mn-cs"/>
                </a:rPr>
                <a:t>BORA PULU GEOTHERMAL PSPE AREA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C428804-55BE-B541-E555-6FF4221160D5}"/>
                </a:ext>
              </a:extLst>
            </p:cNvPr>
            <p:cNvSpPr/>
            <p:nvPr/>
          </p:nvSpPr>
          <p:spPr>
            <a:xfrm>
              <a:off x="14270036" y="9689660"/>
              <a:ext cx="849313" cy="10021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36F4F70-2A98-AA04-FC7D-5E5A45331E1D}"/>
                </a:ext>
              </a:extLst>
            </p:cNvPr>
            <p:cNvCxnSpPr/>
            <p:nvPr/>
          </p:nvCxnSpPr>
          <p:spPr>
            <a:xfrm flipH="1">
              <a:off x="0" y="9689661"/>
              <a:ext cx="15119350" cy="0"/>
            </a:xfrm>
            <a:prstGeom prst="line">
              <a:avLst/>
            </a:prstGeom>
            <a:grpFill/>
            <a:ln w="28575">
              <a:solidFill>
                <a:srgbClr val="F898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F1ED53CD-DDE7-F62C-35E3-013070AF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70035" y="9688616"/>
            <a:ext cx="849314" cy="1002151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5F506-3E97-4CD9-849B-81614FC9B9A8}" type="slidenum">
              <a:rPr kumimoji="0" lang="en-ID" sz="4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320" y="7377005"/>
            <a:ext cx="14584680" cy="1594283"/>
          </a:xfrm>
          <a:prstGeom prst="rect">
            <a:avLst/>
          </a:prstGeom>
          <a:solidFill>
            <a:srgbClr val="E8EFF7"/>
          </a:solidFill>
        </p:spPr>
        <p:txBody>
          <a:bodyPr wrap="square" lIns="109728" tIns="73152" rIns="109728" bIns="7315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Proposed approach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Exploration phase: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• DSM grid (or jet grouting where access is tight) under the rig, sensitive equipment, and silty sand at Well Pad 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• Deep piles: structural alternative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Before final design: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• Field trial, SPT/CPT before and after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• Target FS ≥ 1.25, or each facility's settlement and movement limits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• Treat beyond the footprint; confirm costs with local contractors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446526-F33D-2166-51B5-CCF80682B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06225"/>
              </p:ext>
            </p:extLst>
          </p:nvPr>
        </p:nvGraphicFramePr>
        <p:xfrm>
          <a:off x="274320" y="1005840"/>
          <a:ext cx="14584680" cy="603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Soil fit (SNI chart)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Reaches 7.5-20 m?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Effect on liquefaction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Pros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Cons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Relative cost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Fit for this site</a:t>
                      </a:r>
                    </a:p>
                  </a:txBody>
                  <a:tcPr marL="54864" marR="54864" marT="27432" marB="27432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Vibro stone columns (VSC)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Clean sand: yes. Silty sand: as reinforcement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Yes, to 20-25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Densify, drain and reinforce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Proven for liquefaction; fast; widely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Weak densification when FC &gt; 15-20%; (N1)60cs 31-33 hard to reach; needs trial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Good: shortlist</a:t>
                      </a:r>
                    </a:p>
                  </a:txBody>
                  <a:tcPr marL="54864" marR="54864" marT="27432" marB="27432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Vibro-compaction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Clean sand only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Densification only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Low cost; no cement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Not effective in the silty sand at Well Pad D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Clean sand areas only</a:t>
                      </a:r>
                    </a:p>
                  </a:txBody>
                  <a:tcPr marL="54864" marR="54864" marT="27432" marB="27432" anchor="ctr"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Dynamic compaction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Sand: 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No, about 8-10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Densifies the upper part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Cheap and simple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Does not reach 20 m; strong vibration near wells and facilities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Not suitable</a:t>
                      </a:r>
                    </a:p>
                  </a:txBody>
                  <a:tcPr marL="54864" marR="54864" marT="27432" marB="27432" anchor="ctr"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Compaction grouting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Silty sand: yes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Densification by displacement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Works under or next to existing structures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Slow and costly over large areas; risk of heave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Spot use</a:t>
                      </a:r>
                    </a:p>
                  </a:txBody>
                  <a:tcPr marL="54864" marR="54864" marT="27432" marB="27432" anchor="ctr"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Jet grouting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All soils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00000"/>
                          </a:solidFill>
                          <a:latin typeface="Proxima Nova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Solid soil-cement columns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Any soil and any depth; precise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Very high cost; spoil disposal; column size hard to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Very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00000"/>
                          </a:solidFill>
                          <a:latin typeface="Proxima Nova"/>
                        </a:rPr>
                        <a:t>Spot use</a:t>
                      </a:r>
                    </a:p>
                  </a:txBody>
                  <a:tcPr marL="54864" marR="54864" marT="27432" marB="27432" anchor="ctr"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Deep soil mixing grid (DSM)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All sands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Yes, 20-30 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Confines the sand; cuts strain and spreading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Most reliable against liquefaction and spreading; performed well in Kobe 1995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Specialist rig; needs mix design and coring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Good: rig and critical areas</a:t>
                      </a:r>
                    </a:p>
                  </a:txBody>
                  <a:tcPr marL="54864" marR="54864" marT="27432" marB="27432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Mass soil mixing (MSM)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No, about 5-7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Treats the dry crust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Fast; makes a stiff 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Does not reach the liquefiable layers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Not as a stand-alone fix</a:t>
                      </a:r>
                    </a:p>
                  </a:txBody>
                  <a:tcPr marL="54864" marR="54864" marT="27432" marB="27432" anchor="ctr"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roxima Nova"/>
                        </a:rPr>
                        <a:t>Rigid inclusions (RI)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None: sand still liquefies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Controls static settlement; quick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Unreinforced columns can crack under lateral spreading; downdrag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Not as a stand-alone fix</a:t>
                      </a:r>
                    </a:p>
                  </a:txBody>
                  <a:tcPr marL="54864" marR="54864" marT="27432" marB="27432" anchor="ctr"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000000"/>
                          </a:solidFill>
                          <a:latin typeface="Proxima Nova"/>
                        </a:rPr>
                        <a:t>Deep piles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Not a soil treatment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Yes, toe below 20-23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Bypasses the liquefied layer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Reliable bearing for the rig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Must carry downdrag and spreading loads; EN 1998-5 advises caution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oxima Nova"/>
                        </a:rPr>
                        <a:t>Medium to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00000"/>
                          </a:solidFill>
                          <a:latin typeface="Proxima Nova"/>
                        </a:rPr>
                        <a:t>With full design check</a:t>
                      </a:r>
                    </a:p>
                  </a:txBody>
                  <a:tcPr marL="54864" marR="54864" marT="27432" marB="27432" anchor="ctr"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296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58B5-B349-9D23-1272-FA6A3CB7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8F5CF4-D5D7-5886-4161-1419F1EBFD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3"/>
          <a:stretch/>
        </p:blipFill>
        <p:spPr bwMode="auto">
          <a:xfrm>
            <a:off x="10471446" y="5709753"/>
            <a:ext cx="4647903" cy="1887855"/>
          </a:xfrm>
          <a:prstGeom prst="rect">
            <a:avLst/>
          </a:prstGeom>
          <a:noFill/>
        </p:spPr>
      </p:pic>
      <p:pic>
        <p:nvPicPr>
          <p:cNvPr id="5" name="Picture 4" descr="1-Aerial">
            <a:extLst>
              <a:ext uri="{FF2B5EF4-FFF2-40B4-BE49-F238E27FC236}">
                <a16:creationId xmlns:a16="http://schemas.microsoft.com/office/drawing/2014/main" id="{58C28E11-31CD-57B2-C9A2-2EC4AB8140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367194" y="7404507"/>
            <a:ext cx="6117210" cy="331370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CD6A78-82CD-CBFD-39CA-E0B36C517CA1}"/>
              </a:ext>
            </a:extLst>
          </p:cNvPr>
          <p:cNvSpPr/>
          <p:nvPr/>
        </p:nvSpPr>
        <p:spPr>
          <a:xfrm>
            <a:off x="0" y="0"/>
            <a:ext cx="15119350" cy="2861968"/>
          </a:xfrm>
          <a:prstGeom prst="rect">
            <a:avLst/>
          </a:prstGeom>
          <a:solidFill>
            <a:srgbClr val="2F1A26"/>
          </a:solidFill>
          <a:ln w="12700">
            <a:noFill/>
          </a:ln>
        </p:spPr>
        <p:txBody>
          <a:bodyPr wrap="square" anchor="ctr" anchorCtr="0" upright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D68B3-E48D-DA1A-400B-36497DAF8733}"/>
              </a:ext>
            </a:extLst>
          </p:cNvPr>
          <p:cNvSpPr txBox="1"/>
          <p:nvPr/>
        </p:nvSpPr>
        <p:spPr>
          <a:xfrm>
            <a:off x="188400" y="91010"/>
            <a:ext cx="141872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rPr>
              <a:t>GEOTECHNICAL INVESTIGATION &amp; DETAILED ENGINEERING DESIGN BORA PULU GEOTHERMAL PSPE AREA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D96483-186C-73C2-F823-952F33F6C2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446" y="2855088"/>
            <a:ext cx="4619162" cy="299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D01B51-3D6F-3362-D322-79F308DED0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500" y="927086"/>
            <a:ext cx="4133850" cy="180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5E516C-7538-C781-489F-9FAE5B7038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D9C3A5">
                <a:tint val="50000"/>
                <a:satMod val="180000"/>
              </a:srgbClr>
            </a:duotone>
          </a:blip>
          <a:srcRect r="23883" b="19314"/>
          <a:stretch/>
        </p:blipFill>
        <p:spPr>
          <a:xfrm>
            <a:off x="9306232" y="7408126"/>
            <a:ext cx="5772217" cy="333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B7F992-0EEF-CC52-A5F0-381B701A2F8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1250" r="33307"/>
          <a:stretch/>
        </p:blipFill>
        <p:spPr>
          <a:xfrm>
            <a:off x="21851" y="2861968"/>
            <a:ext cx="5430364" cy="357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CACBA3-8831-8C2E-BEAB-C43CED07A77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7195" y="5647463"/>
            <a:ext cx="5506903" cy="1805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D53F58D-462B-D3A2-30B5-0625C16E98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4404" y="2855905"/>
            <a:ext cx="4594045" cy="34935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B82585-29A8-0AAA-4594-0C1C36FE008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-17564" y="7408931"/>
            <a:ext cx="5427023" cy="330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6B522D-A424-7025-41C6-7D84644F3F8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8829" r="3540" b="9312"/>
          <a:stretch/>
        </p:blipFill>
        <p:spPr>
          <a:xfrm>
            <a:off x="5409459" y="2866391"/>
            <a:ext cx="9709891" cy="45425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29F2EB-0349-4969-39FC-C38D99A850EE}"/>
              </a:ext>
            </a:extLst>
          </p:cNvPr>
          <p:cNvSpPr/>
          <p:nvPr/>
        </p:nvSpPr>
        <p:spPr>
          <a:xfrm>
            <a:off x="5010" y="2876276"/>
            <a:ext cx="15119350" cy="7836725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9D082-D1B8-18F7-6634-865B8CD8FCD5}"/>
              </a:ext>
            </a:extLst>
          </p:cNvPr>
          <p:cNvSpPr txBox="1"/>
          <p:nvPr/>
        </p:nvSpPr>
        <p:spPr>
          <a:xfrm>
            <a:off x="370588" y="2964656"/>
            <a:ext cx="112740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 YOU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175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ysClr val="windowText" lastClr="000000"/>
      </a:dk1>
      <a:lt1>
        <a:sysClr val="window" lastClr="FFFFFF"/>
      </a:lt1>
      <a:dk2>
        <a:srgbClr val="2E2827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34643</TotalTime>
  <Words>3483</Words>
  <Application>Microsoft Office PowerPoint</Application>
  <PresentationFormat>Custom</PresentationFormat>
  <Paragraphs>662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Aptos</vt:lpstr>
      <vt:lpstr>Aptos Display</vt:lpstr>
      <vt:lpstr>Arial</vt:lpstr>
      <vt:lpstr>Arial</vt:lpstr>
      <vt:lpstr>Calibri</vt:lpstr>
      <vt:lpstr>Calibri Light</vt:lpstr>
      <vt:lpstr>DejaVu Sans Light</vt:lpstr>
      <vt:lpstr>Dutch801 XBd BT</vt:lpstr>
      <vt:lpstr>Proxima Nova</vt:lpstr>
      <vt:lpstr>Proxima Nova Cn Lt</vt:lpstr>
      <vt:lpstr>Proxima Nova Lt</vt:lpstr>
      <vt:lpstr>Wingdings</vt:lpstr>
      <vt:lpstr>Office Theme</vt:lpstr>
      <vt:lpstr>1_Office Theme</vt:lpstr>
      <vt:lpstr>2_Office Theme</vt:lpstr>
      <vt:lpstr>A. EXISTING CONDITION</vt:lpstr>
      <vt:lpstr>PowerPoint Presentation</vt:lpstr>
      <vt:lpstr>PowerPoint Presentation</vt:lpstr>
      <vt:lpstr>B. BEARING CAPACITY &amp; SETTLEMENT</vt:lpstr>
      <vt:lpstr>PowerPoint Presentation</vt:lpstr>
      <vt:lpstr>C. RIG FOUNDATION ANALYSIS</vt:lpstr>
      <vt:lpstr>RIG FOUNDATION ANALYSIS MAT FOUNDATION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RIG FOUNDATION ANALYSIS PILE FOUNDATION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SOIL IMPROVEMENT  RECOMMENDATION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D0035-46-CRACKED</dc:creator>
  <cp:lastModifiedBy>Dhafa Kusumah Perdana</cp:lastModifiedBy>
  <cp:revision>413</cp:revision>
  <cp:lastPrinted>2026-07-15T05:57:15Z</cp:lastPrinted>
  <dcterms:created xsi:type="dcterms:W3CDTF">2024-06-04T04:00:00Z</dcterms:created>
  <dcterms:modified xsi:type="dcterms:W3CDTF">2026-10-06T16:19:27Z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